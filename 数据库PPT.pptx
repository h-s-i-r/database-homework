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1"/>
  </p:notesMasterIdLst>
  <p:sldIdLst>
    <p:sldId id="30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306" r:id="rId30"/>
  </p:sldIdLst>
  <p:sldSz cx="36404550" cy="20320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912" autoAdjust="0"/>
    <p:restoredTop sz="94660"/>
  </p:normalViewPr>
  <p:slideViewPr>
    <p:cSldViewPr snapToGrid="0">
      <p:cViewPr varScale="1">
        <p:scale>
          <a:sx n="29" d="100"/>
          <a:sy n="29" d="100"/>
        </p:scale>
        <p:origin x="69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557EB-5998-4161-AFC9-F4529A91DC07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65163" y="1143000"/>
            <a:ext cx="5527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89F5E-B736-416B-8DD8-FF9D0F4069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550569" y="3325520"/>
            <a:ext cx="27303413" cy="7074370"/>
          </a:xfrm>
        </p:spPr>
        <p:txBody>
          <a:bodyPr anchor="b"/>
          <a:lstStyle>
            <a:lvl1pPr lvl="0" algn="ctr">
              <a:defRPr sz="1778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50569" y="10672705"/>
            <a:ext cx="27303413" cy="4905961"/>
          </a:xfrm>
        </p:spPr>
        <p:txBody>
          <a:bodyPr/>
          <a:lstStyle>
            <a:lvl1pPr marL="0" lvl="0" indent="0" algn="ctr">
              <a:buNone/>
              <a:defRPr sz="7110"/>
            </a:lvl1pPr>
            <a:lvl2pPr marL="1354455" lvl="1" indent="0" algn="ctr">
              <a:buNone/>
              <a:defRPr sz="5925"/>
            </a:lvl2pPr>
            <a:lvl3pPr marL="2709545" lvl="2" indent="0" algn="ctr">
              <a:buNone/>
              <a:defRPr sz="5335"/>
            </a:lvl3pPr>
            <a:lvl4pPr marL="4064000" lvl="3" indent="0" algn="ctr">
              <a:buNone/>
              <a:defRPr sz="4740"/>
            </a:lvl4pPr>
            <a:lvl5pPr marL="5418455" lvl="4" indent="0" algn="ctr">
              <a:buNone/>
              <a:defRPr sz="4740"/>
            </a:lvl5pPr>
            <a:lvl6pPr marL="6773545" lvl="5" indent="0" algn="ctr">
              <a:buNone/>
              <a:defRPr sz="4740"/>
            </a:lvl6pPr>
            <a:lvl7pPr marL="8128000" lvl="6" indent="0" algn="ctr">
              <a:buNone/>
              <a:defRPr sz="4740"/>
            </a:lvl7pPr>
            <a:lvl8pPr marL="9483090" lvl="7" indent="0" algn="ctr">
              <a:buNone/>
              <a:defRPr sz="4740"/>
            </a:lvl8pPr>
            <a:lvl9pPr marL="10837545" lvl="8" indent="0" algn="ctr">
              <a:buNone/>
              <a:defRPr sz="4740"/>
            </a:lvl9pPr>
          </a:lstStyle>
          <a:p>
            <a:r>
              <a:rPr lang="zh-CN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25711150" y="18834100"/>
            <a:ext cx="8189913" cy="10810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5ECA6-5609-4AEB-A0A4-C5D7AA29339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058650" y="18834100"/>
            <a:ext cx="12287250" cy="10810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7832" y="-554525"/>
            <a:ext cx="37779158" cy="3773330"/>
          </a:xfrm>
          <a:prstGeom prst="rect">
            <a:avLst/>
          </a:prstGeom>
        </p:spPr>
      </p:pic>
      <p:sp>
        <p:nvSpPr>
          <p:cNvPr id="142" name="文本框 15"/>
          <p:cNvSpPr txBox="1"/>
          <p:nvPr/>
        </p:nvSpPr>
        <p:spPr>
          <a:xfrm>
            <a:off x="7735307" y="6303679"/>
            <a:ext cx="20933936" cy="11554702"/>
          </a:xfrm>
          <a:prstGeom prst="rect">
            <a:avLst/>
          </a:prstGeom>
          <a:noFill/>
          <a:ln w="6350">
            <a:prstDash val="solid"/>
          </a:ln>
          <a:effectLst>
            <a:outerShdw sx="0" sy="0" rotWithShape="0">
              <a:srgbClr val="000000">
                <a:alpha val="100000"/>
              </a:srgb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zh-CN" altLang="en-US" sz="14200" b="1" dirty="0">
                <a:gradFill>
                  <a:gsLst>
                    <a:gs pos="0">
                      <a:schemeClr val="accent1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1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72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数据库原理实验展示</a:t>
            </a:r>
            <a:endParaRPr lang="en-US" altLang="zh-CN" sz="14200" b="1" dirty="0">
              <a:gradFill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7200000" scaled="0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n-US" altLang="zh-CN" sz="5335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n-US" altLang="zh-CN" sz="474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n-US" altLang="zh-CN" sz="5335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n-US" altLang="zh-CN" sz="5335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zh-CN" altLang="en-US" sz="948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展示人</a:t>
            </a:r>
            <a:endParaRPr lang="en-US" altLang="zh-CN" sz="948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zh-CN" altLang="en-US" sz="8295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贺雨恒  冉冉  孙谦昊  杨治昆 严涵栩  张译文</a:t>
            </a:r>
            <a:endParaRPr lang="en-US" altLang="zh-CN" sz="8295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US" altLang="zh-CN" sz="8295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2025</a:t>
            </a:r>
            <a:r>
              <a:rPr lang="zh-CN" altLang="en-US" sz="8295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年</a:t>
            </a:r>
            <a:r>
              <a:rPr lang="en-US" altLang="zh-CN" sz="8295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12</a:t>
            </a:r>
            <a:r>
              <a:rPr lang="zh-CN" altLang="en-US" sz="8295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月 </a:t>
            </a:r>
            <a:endParaRPr lang="en-US" altLang="zh-CN" sz="5335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br>
              <a:rPr lang="en-US" altLang="zh-CN" sz="5335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endParaRPr sz="5335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47" name="文本框 33"/>
          <p:cNvSpPr txBox="1"/>
          <p:nvPr/>
        </p:nvSpPr>
        <p:spPr>
          <a:xfrm>
            <a:off x="12849190" y="544043"/>
            <a:ext cx="3952033" cy="1186607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实验一</a:t>
            </a:r>
            <a:endParaRPr sz="7110" b="1" dirty="0"/>
          </a:p>
        </p:txBody>
      </p:sp>
      <p:cxnSp>
        <p:nvCxnSpPr>
          <p:cNvPr id="148" name="直接箭头连接符 34"/>
          <p:cNvCxnSpPr/>
          <p:nvPr/>
        </p:nvCxnSpPr>
        <p:spPr>
          <a:xfrm>
            <a:off x="17913940" y="582116"/>
            <a:ext cx="0" cy="109982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149" name="文本框 35"/>
          <p:cNvSpPr txBox="1"/>
          <p:nvPr/>
        </p:nvSpPr>
        <p:spPr>
          <a:xfrm>
            <a:off x="20078524" y="561327"/>
            <a:ext cx="4204261" cy="1186607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实验二</a:t>
            </a:r>
            <a:endParaRPr sz="7110" dirty="0"/>
          </a:p>
        </p:txBody>
      </p:sp>
      <p:sp>
        <p:nvSpPr>
          <p:cNvPr id="150" name="文本框 36"/>
          <p:cNvSpPr txBox="1"/>
          <p:nvPr/>
        </p:nvSpPr>
        <p:spPr>
          <a:xfrm>
            <a:off x="15774281" y="452354"/>
            <a:ext cx="4279319" cy="913007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ctr"/>
            <a:endParaRPr lang="en-US" sz="5335" b="1" dirty="0"/>
          </a:p>
        </p:txBody>
      </p:sp>
      <p:pic>
        <p:nvPicPr>
          <p:cNvPr id="6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73" y="336085"/>
            <a:ext cx="5947266" cy="1637093"/>
          </a:xfrm>
          <a:prstGeom prst="rect">
            <a:avLst/>
          </a:prstGeom>
        </p:spPr>
      </p:pic>
      <p:sp>
        <p:nvSpPr>
          <p:cNvPr id="9" name="文本框 35"/>
          <p:cNvSpPr txBox="1"/>
          <p:nvPr/>
        </p:nvSpPr>
        <p:spPr>
          <a:xfrm>
            <a:off x="13870875" y="2828001"/>
            <a:ext cx="4267588" cy="913007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endParaRPr sz="5335" dirty="0"/>
          </a:p>
        </p:txBody>
      </p:sp>
      <p:sp>
        <p:nvSpPr>
          <p:cNvPr id="2" name="文本框 1"/>
          <p:cNvSpPr txBox="1"/>
          <p:nvPr/>
        </p:nvSpPr>
        <p:spPr>
          <a:xfrm>
            <a:off x="9212598" y="8830176"/>
            <a:ext cx="17537831" cy="1186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110" dirty="0"/>
              <a:t>四川大学计算机学院   数据库系统原理课程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6404550" cy="20320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0770616" y="3960729"/>
            <a:ext cx="15633934" cy="16414900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2165384" y="6366223"/>
            <a:ext cx="16334105" cy="5778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2000"/>
              </a:lnSpc>
              <a:spcBef>
                <a:spcPts val="0"/>
              </a:spcBef>
            </a:pPr>
            <a:r>
              <a:rPr sz="11500" kern="0" spc="23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数据库核心</a:t>
            </a:r>
            <a:r>
              <a:rPr sz="11500" kern="0" spc="23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引擎</a:t>
            </a:r>
            <a:r>
              <a:rPr lang="en-US" sz="11500" kern="0" spc="23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:</a:t>
            </a:r>
            <a:r>
              <a:rPr sz="11500" kern="0" spc="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Bustub</a:t>
            </a:r>
            <a:r>
              <a:rPr sz="115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11500" kern="0" spc="26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缓冲池管理器</a:t>
            </a:r>
            <a:r>
              <a:rPr lang="zh-CN" altLang="en-US" sz="11500" kern="0" spc="2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实验</a:t>
            </a:r>
            <a:r>
              <a:rPr sz="11500" kern="0" spc="26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解</a:t>
            </a:r>
            <a:r>
              <a:rPr sz="11500" kern="0" spc="25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析</a:t>
            </a:r>
            <a:endParaRPr sz="1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900" kern="0" spc="3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可扩展哈希|</a:t>
            </a:r>
            <a:r>
              <a:rPr sz="59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LRU</a:t>
            </a:r>
            <a:r>
              <a:rPr sz="5900" kern="0" spc="34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-K </a:t>
            </a:r>
            <a:r>
              <a:rPr sz="5900" kern="0" spc="34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替换</a:t>
            </a:r>
            <a:r>
              <a:rPr sz="5900" kern="0" spc="3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算法|缓</a:t>
            </a:r>
            <a:r>
              <a:rPr sz="5900" kern="0" spc="3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冲池管理实现</a:t>
            </a:r>
            <a:endParaRPr sz="5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0241" y="-550587"/>
            <a:ext cx="37752713" cy="3733050"/>
          </a:xfrm>
          <a:prstGeom prst="rect">
            <a:avLst/>
          </a:prstGeom>
        </p:spPr>
      </p:pic>
      <p:cxnSp>
        <p:nvCxnSpPr>
          <p:cNvPr id="28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sp>
        <p:nvSpPr>
          <p:cNvPr id="29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可扩展哈希</a:t>
            </a:r>
            <a:endParaRPr sz="5400" dirty="0"/>
          </a:p>
        </p:txBody>
      </p:sp>
      <p:sp>
        <p:nvSpPr>
          <p:cNvPr id="30" name="文本框 36"/>
          <p:cNvSpPr txBox="1"/>
          <p:nvPr/>
        </p:nvSpPr>
        <p:spPr>
          <a:xfrm>
            <a:off x="17292714" y="784019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5400" b="1" dirty="0"/>
              <a:t>LRU_K</a:t>
            </a:r>
            <a:r>
              <a:rPr lang="zh-CN" altLang="en-US" sz="5400" b="1" dirty="0"/>
              <a:t>置换</a:t>
            </a:r>
            <a:endParaRPr lang="en-US" sz="5400" b="1" dirty="0"/>
          </a:p>
        </p:txBody>
      </p:sp>
      <p:cxnSp>
        <p:nvCxnSpPr>
          <p:cNvPr id="32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37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08" y="511896"/>
            <a:ext cx="5647573" cy="1554597"/>
          </a:xfrm>
          <a:prstGeom prst="rect">
            <a:avLst/>
          </a:prstGeom>
        </p:spPr>
      </p:pic>
      <p:sp>
        <p:nvSpPr>
          <p:cNvPr id="38" name="文本框 35"/>
          <p:cNvSpPr txBox="1"/>
          <p:nvPr/>
        </p:nvSpPr>
        <p:spPr>
          <a:xfrm>
            <a:off x="16288964" y="1739858"/>
            <a:ext cx="2476388" cy="1222099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endParaRPr dirty="0"/>
          </a:p>
        </p:txBody>
      </p:sp>
      <p:pic>
        <p:nvPicPr>
          <p:cNvPr id="40" name="图片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217" y="-43876"/>
            <a:ext cx="4613574" cy="2395449"/>
          </a:xfrm>
          <a:prstGeom prst="rect">
            <a:avLst/>
          </a:prstGeom>
        </p:spPr>
      </p:pic>
      <p:sp>
        <p:nvSpPr>
          <p:cNvPr id="47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>
                <a:solidFill>
                  <a:schemeClr val="bg1"/>
                </a:solidFill>
              </a:rPr>
              <a:t>实验一</a:t>
            </a:r>
            <a:endParaRPr sz="7110" b="1" dirty="0">
              <a:solidFill>
                <a:schemeClr val="bg1"/>
              </a:solidFill>
            </a:endParaRPr>
          </a:p>
        </p:txBody>
      </p:sp>
      <p:sp>
        <p:nvSpPr>
          <p:cNvPr id="49" name="文本框 36"/>
          <p:cNvSpPr txBox="1"/>
          <p:nvPr/>
        </p:nvSpPr>
        <p:spPr>
          <a:xfrm>
            <a:off x="22840641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缓冲池管理</a:t>
            </a:r>
            <a:endParaRPr lang="en-US" sz="5400" b="1" dirty="0"/>
          </a:p>
        </p:txBody>
      </p:sp>
      <p:cxnSp>
        <p:nvCxnSpPr>
          <p:cNvPr id="50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10"/>
          <p:cNvSpPr/>
          <p:nvPr/>
        </p:nvSpPr>
        <p:spPr>
          <a:xfrm>
            <a:off x="0" y="0"/>
            <a:ext cx="36404550" cy="20320000"/>
          </a:xfrm>
          <a:prstGeom prst="rect">
            <a:avLst/>
          </a:prstGeom>
          <a:solidFill>
            <a:srgbClr val="F7F3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14242916" y="7321498"/>
            <a:ext cx="20745496" cy="9156802"/>
            <a:chOff x="0" y="0"/>
            <a:chExt cx="20745496" cy="9156802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0745496" cy="9156802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2273504" y="34442"/>
              <a:ext cx="16635094" cy="77241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97000"/>
                </a:lnSpc>
              </a:pPr>
              <a:r>
                <a:rPr sz="42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HDD</a:t>
              </a:r>
              <a:r>
                <a:rPr sz="4200" b="1" kern="0" spc="75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4200" b="1" kern="0" spc="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访问：~10毫秒</a:t>
              </a:r>
              <a:endParaRPr sz="42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616565" algn="l" rtl="0" eaLnBrk="0">
                <a:lnSpc>
                  <a:spcPct val="81000"/>
                </a:lnSpc>
                <a:spcBef>
                  <a:spcPts val="1085"/>
                </a:spcBef>
              </a:pPr>
              <a:r>
                <a:rPr sz="3600" kern="0" spc="-40" dirty="0">
                  <a:solidFill>
                    <a:srgbClr val="20609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SSD</a:t>
              </a:r>
              <a:endParaRPr sz="3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336665" algn="l" rtl="0" eaLnBrk="0">
                <a:lnSpc>
                  <a:spcPct val="97000"/>
                </a:lnSpc>
                <a:spcBef>
                  <a:spcPts val="1265"/>
                </a:spcBef>
              </a:pPr>
              <a:r>
                <a:rPr sz="4200" b="1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SSD</a:t>
              </a:r>
              <a:r>
                <a:rPr sz="4200" b="1" kern="0" spc="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访问：~100微秒</a:t>
              </a:r>
              <a:endParaRPr sz="42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1260"/>
                </a:spcBef>
              </a:pPr>
              <a:r>
                <a:rPr sz="44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RAM</a:t>
              </a:r>
              <a:r>
                <a:rPr sz="4400" b="1" kern="0" spc="13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4400" b="1" kern="0" spc="1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访问：~100纳秒</a:t>
              </a:r>
              <a:endParaRPr sz="4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405765" algn="l" rtl="0" eaLnBrk="0">
                <a:lnSpc>
                  <a:spcPts val="5500"/>
                </a:lnSpc>
              </a:pPr>
              <a:r>
                <a:rPr sz="4000" b="1" kern="0" spc="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比喻：拿起桌上的书</a:t>
              </a:r>
              <a:endParaRPr sz="4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6" name="textbox 16"/>
          <p:cNvSpPr/>
          <p:nvPr/>
        </p:nvSpPr>
        <p:spPr>
          <a:xfrm>
            <a:off x="1871980" y="6931660"/>
            <a:ext cx="12371070" cy="915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sz="6000" kern="0" spc="4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1.</a:t>
            </a:r>
            <a:r>
              <a:rPr sz="6000" kern="0" spc="4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数据库持久化存储于磁盘</a:t>
            </a:r>
            <a:r>
              <a:rPr lang="zh-CN" altLang="en-US" sz="6000" kern="0" spc="4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sz="6400" kern="0" spc="12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但</a:t>
            </a:r>
            <a:r>
              <a:rPr sz="6400" kern="0" spc="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CPU</a:t>
            </a:r>
            <a:r>
              <a:rPr sz="6400" kern="0" spc="12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仅能操作高速的内存</a:t>
            </a:r>
            <a:r>
              <a:rPr sz="64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60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(RAM)。</a:t>
            </a:r>
            <a:endParaRPr sz="60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71450" indent="-17145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sz="10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71450" indent="-17145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sz="10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71450" indent="-17145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sz="10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2700" indent="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sz="6400" kern="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2.</a:t>
            </a:r>
            <a:r>
              <a:rPr sz="6400" kern="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访问磁盘的速度比访问内存</a:t>
            </a:r>
            <a:r>
              <a:rPr sz="6000" kern="0" spc="39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慢几个数量级。</a:t>
            </a:r>
            <a:endParaRPr sz="60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71450" indent="-17145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sz="10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71450" indent="-17145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sz="10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71450" indent="-17145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sz="10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285750" indent="-28575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2700" indent="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sz="64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3.</a:t>
            </a:r>
            <a:r>
              <a:rPr sz="64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直接在磁盘上操作数据库将</a:t>
            </a:r>
            <a:r>
              <a:rPr sz="6000" kern="0" spc="3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导致性能无法接受。</a:t>
            </a:r>
            <a:endParaRPr sz="60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1872675" y="2994126"/>
            <a:ext cx="25557480" cy="173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/>
          <a:lstStyle/>
          <a:p>
            <a:pPr algn="l" rtl="0" eaLnBrk="0">
              <a:lnSpc>
                <a:spcPct val="60000"/>
              </a:lnSpc>
            </a:pPr>
            <a:endParaRPr sz="8800" dirty="0">
              <a:latin typeface="黑体" panose="02010609060101010101" charset="-122"/>
              <a:ea typeface="黑体" panose="02010609060101010101" charset="-122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88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核心挑战：内存与磁盘之间的巨大鸿沟</a:t>
            </a:r>
            <a:endParaRPr sz="8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13855611" y="16395769"/>
            <a:ext cx="14538325" cy="1892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6780"/>
              </a:lnSpc>
            </a:pPr>
            <a:r>
              <a:rPr sz="4800" kern="0" spc="-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1ns</a:t>
            </a:r>
            <a:r>
              <a:rPr sz="48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</a:t>
            </a:r>
            <a:r>
              <a:rPr sz="48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200" kern="0" spc="-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100  ns</a:t>
            </a:r>
            <a:r>
              <a:rPr sz="42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</a:t>
            </a:r>
            <a:r>
              <a:rPr sz="42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4800" kern="0" spc="-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1μs</a:t>
            </a:r>
            <a:r>
              <a:rPr sz="48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</a:t>
            </a:r>
            <a:r>
              <a:rPr sz="48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4600" kern="0" spc="-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100μs</a:t>
            </a:r>
            <a:endParaRPr sz="4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188200" algn="l" rtl="0" eaLnBrk="0">
              <a:lnSpc>
                <a:spcPts val="7920"/>
              </a:lnSpc>
            </a:pPr>
            <a:r>
              <a:rPr lang="en-US" sz="4200" b="1" kern="0" spc="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</a:t>
            </a:r>
            <a:r>
              <a:rPr sz="5400" b="1" kern="0" spc="21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访问延迟</a:t>
            </a:r>
            <a:endParaRPr sz="42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419675" y="4552900"/>
            <a:ext cx="1968757" cy="2546503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29952977" y="13880287"/>
            <a:ext cx="4210684" cy="1250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algn="l" rtl="0" eaLnBrk="0">
              <a:lnSpc>
                <a:spcPct val="96000"/>
              </a:lnSpc>
            </a:pPr>
            <a:r>
              <a:rPr sz="3600" kern="0" spc="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比喻：开车去城市</a:t>
            </a:r>
            <a:endParaRPr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3600" kern="0" spc="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另一端的图书馆取书</a:t>
            </a:r>
            <a:endParaRPr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31356368" y="16455491"/>
            <a:ext cx="1565910" cy="821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6270"/>
              </a:lnSpc>
            </a:pPr>
            <a:r>
              <a:rPr sz="4600" kern="0" spc="-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r>
              <a:rPr sz="4600" kern="0" spc="4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600" kern="0" spc="-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</a:t>
            </a:r>
            <a:r>
              <a:rPr sz="4600" kern="0" spc="-1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endParaRPr sz="4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0241" y="-550587"/>
            <a:ext cx="37752713" cy="3733050"/>
          </a:xfrm>
          <a:prstGeom prst="rect">
            <a:avLst/>
          </a:prstGeom>
        </p:spPr>
      </p:pic>
      <p:cxnSp>
        <p:nvCxnSpPr>
          <p:cNvPr id="4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sp>
        <p:nvSpPr>
          <p:cNvPr id="5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可扩展哈希</a:t>
            </a:r>
            <a:endParaRPr sz="5400" dirty="0"/>
          </a:p>
        </p:txBody>
      </p:sp>
      <p:sp>
        <p:nvSpPr>
          <p:cNvPr id="6" name="文本框 36"/>
          <p:cNvSpPr txBox="1"/>
          <p:nvPr/>
        </p:nvSpPr>
        <p:spPr>
          <a:xfrm>
            <a:off x="17292714" y="784019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5400" b="1" dirty="0"/>
              <a:t>LRU_K</a:t>
            </a:r>
            <a:r>
              <a:rPr lang="zh-CN" altLang="en-US" sz="5400" b="1" dirty="0"/>
              <a:t>置换</a:t>
            </a:r>
            <a:endParaRPr lang="en-US" sz="5400" b="1" dirty="0"/>
          </a:p>
        </p:txBody>
      </p:sp>
      <p:cxnSp>
        <p:nvCxnSpPr>
          <p:cNvPr id="7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8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08" y="511896"/>
            <a:ext cx="5647573" cy="1554597"/>
          </a:xfrm>
          <a:prstGeom prst="rect">
            <a:avLst/>
          </a:prstGeom>
        </p:spPr>
      </p:pic>
      <p:sp>
        <p:nvSpPr>
          <p:cNvPr id="9" name="文本框 35"/>
          <p:cNvSpPr txBox="1"/>
          <p:nvPr/>
        </p:nvSpPr>
        <p:spPr>
          <a:xfrm>
            <a:off x="16288964" y="1739858"/>
            <a:ext cx="2476388" cy="1222099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endParaRPr dirty="0"/>
          </a:p>
        </p:txBody>
      </p:sp>
      <p:pic>
        <p:nvPicPr>
          <p:cNvPr id="11" name="图片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217" y="-43876"/>
            <a:ext cx="4613574" cy="2395449"/>
          </a:xfrm>
          <a:prstGeom prst="rect">
            <a:avLst/>
          </a:prstGeom>
        </p:spPr>
      </p:pic>
      <p:sp>
        <p:nvSpPr>
          <p:cNvPr id="13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>
                <a:solidFill>
                  <a:schemeClr val="bg1"/>
                </a:solidFill>
              </a:rPr>
              <a:t>实验一</a:t>
            </a:r>
            <a:endParaRPr sz="7110" b="1" dirty="0">
              <a:solidFill>
                <a:schemeClr val="bg1"/>
              </a:solidFill>
            </a:endParaRPr>
          </a:p>
        </p:txBody>
      </p:sp>
      <p:sp>
        <p:nvSpPr>
          <p:cNvPr id="15" name="文本框 36"/>
          <p:cNvSpPr txBox="1"/>
          <p:nvPr/>
        </p:nvSpPr>
        <p:spPr>
          <a:xfrm>
            <a:off x="22840641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缓冲池管理</a:t>
            </a:r>
            <a:endParaRPr lang="en-US" sz="5400" b="1" dirty="0"/>
          </a:p>
        </p:txBody>
      </p:sp>
      <p:cxnSp>
        <p:nvCxnSpPr>
          <p:cNvPr id="17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19" name="文本框 18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3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 30"/>
          <p:cNvSpPr/>
          <p:nvPr/>
        </p:nvSpPr>
        <p:spPr>
          <a:xfrm>
            <a:off x="0" y="0"/>
            <a:ext cx="36404550" cy="20320000"/>
          </a:xfrm>
          <a:prstGeom prst="rect">
            <a:avLst/>
          </a:prstGeom>
          <a:solidFill>
            <a:srgbClr val="F9F5E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group 4"/>
          <p:cNvGrpSpPr/>
          <p:nvPr/>
        </p:nvGrpSpPr>
        <p:grpSpPr>
          <a:xfrm rot="21600000">
            <a:off x="9391688" y="5366866"/>
            <a:ext cx="18160773" cy="14687498"/>
            <a:chOff x="0" y="0"/>
            <a:chExt cx="18160773" cy="14687498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8160773" cy="14687498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1649978" y="527024"/>
              <a:ext cx="14022705" cy="13633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6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555365" algn="l" rtl="0" eaLnBrk="0">
                <a:lnSpc>
                  <a:spcPct val="93000"/>
                </a:lnSpc>
              </a:pPr>
              <a:r>
                <a:rPr sz="4200" b="1" kern="0" spc="-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执行引擎 </a:t>
              </a:r>
              <a:r>
                <a:rPr sz="4200" b="1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(Execution  Engi</a:t>
              </a:r>
              <a:r>
                <a:rPr sz="4200" b="1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ne)</a:t>
              </a:r>
              <a:endParaRPr sz="4200" b="1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644765" algn="l" rtl="0" eaLnBrk="0">
                <a:lnSpc>
                  <a:spcPct val="81000"/>
                </a:lnSpc>
                <a:spcBef>
                  <a:spcPts val="1175"/>
                </a:spcBef>
              </a:pPr>
              <a:r>
                <a:rPr sz="3900" kern="0" spc="-7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Arial" panose="020B0604020202020204"/>
                  <a:cs typeface="Times New Roman" panose="02020603050405020304" pitchFamily="18" charset="0"/>
                </a:rPr>
                <a:t>Page</a:t>
              </a:r>
              <a:r>
                <a:rPr sz="3900" kern="0" spc="36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Arial" panose="020B0604020202020204"/>
                  <a:cs typeface="Times New Roman" panose="02020603050405020304" pitchFamily="18" charset="0"/>
                </a:rPr>
                <a:t> </a:t>
              </a:r>
              <a:r>
                <a:rPr sz="3900" kern="0" spc="-7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Arial" panose="020B0604020202020204"/>
                  <a:cs typeface="Times New Roman" panose="02020603050405020304" pitchFamily="18" charset="0"/>
                </a:rPr>
                <a:t>Requests</a:t>
              </a:r>
              <a:endParaRPr sz="3900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23770" algn="l" rtl="0" eaLnBrk="0">
                <a:lnSpc>
                  <a:spcPct val="95000"/>
                </a:lnSpc>
                <a:spcBef>
                  <a:spcPts val="1270"/>
                </a:spcBef>
              </a:pPr>
              <a:r>
                <a:rPr sz="4200" b="1" kern="0" spc="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缓冲池管理器</a:t>
              </a:r>
              <a:r>
                <a:rPr sz="4200" kern="0" spc="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4200" b="1" kern="0" spc="6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sz="42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Buffer</a:t>
              </a:r>
              <a:r>
                <a:rPr sz="4200" kern="0" spc="6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</a:t>
              </a:r>
              <a:r>
                <a:rPr sz="42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Pool</a:t>
              </a:r>
              <a:r>
                <a:rPr sz="4200" kern="0" spc="6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</a:t>
              </a:r>
              <a:r>
                <a:rPr sz="42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Manager</a:t>
              </a:r>
              <a:r>
                <a:rPr sz="4200" b="1" kern="0" spc="6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sz="4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5790"/>
                </a:lnSpc>
                <a:spcBef>
                  <a:spcPts val="1265"/>
                </a:spcBef>
              </a:pPr>
              <a:r>
                <a:rPr lang="en-US" sz="4400" b="1" kern="0" spc="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4400" b="1" kern="0" spc="50" dirty="0" err="1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帧数组</a:t>
              </a:r>
              <a:r>
                <a:rPr sz="4400" b="1" kern="0" spc="-3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4400" b="1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4400" b="1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pages</a:t>
              </a:r>
              <a:r>
                <a:rPr sz="4400" b="1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4400" b="1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355215" algn="l" rtl="0" eaLnBrk="0">
                <a:lnSpc>
                  <a:spcPct val="96000"/>
                </a:lnSpc>
                <a:spcBef>
                  <a:spcPts val="275"/>
                </a:spcBef>
              </a:pP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年</a:t>
              </a:r>
              <a:r>
                <a:rPr sz="900" kern="0" spc="18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率</a:t>
              </a:r>
              <a:endParaRPr sz="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93000"/>
                </a:lnSpc>
                <a:spcBef>
                  <a:spcPts val="1265"/>
                </a:spcBef>
              </a:pPr>
              <a:r>
                <a:rPr sz="4200" b="1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替换器 </a:t>
              </a:r>
              <a:r>
                <a:rPr sz="4200" b="1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4200" b="1" kern="0" spc="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LRU</a:t>
              </a:r>
              <a:r>
                <a:rPr lang="en-US" sz="4200" b="1" kern="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4200" b="1" kern="0" spc="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K</a:t>
              </a:r>
              <a:r>
                <a:rPr lang="en-US" sz="4200" b="1" kern="0" spc="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4200" b="1" kern="0" spc="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Replacer</a:t>
              </a:r>
              <a:r>
                <a:rPr sz="4200" b="1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4200" b="1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b="1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880350" algn="l" rtl="0" eaLnBrk="0">
                <a:lnSpc>
                  <a:spcPct val="82000"/>
                </a:lnSpc>
                <a:spcBef>
                  <a:spcPts val="1175"/>
                </a:spcBef>
              </a:pPr>
              <a:r>
                <a:rPr sz="3900" b="1" kern="0" spc="-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Disk</a:t>
              </a:r>
              <a:r>
                <a:rPr sz="3900" b="1" kern="0" spc="6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900" b="1" kern="0" spc="-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I/O</a:t>
              </a:r>
              <a:endParaRPr sz="3900" b="1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715385" algn="l" rtl="0" eaLnBrk="0">
                <a:lnSpc>
                  <a:spcPct val="95000"/>
                </a:lnSpc>
                <a:spcBef>
                  <a:spcPts val="5"/>
                </a:spcBef>
              </a:pPr>
              <a:r>
                <a:rPr sz="4400" b="1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磁盘管理器 </a:t>
              </a:r>
              <a:r>
                <a:rPr sz="4400" b="1" kern="0" spc="10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sz="44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Disk</a:t>
              </a:r>
              <a:r>
                <a:rPr lang="en-US" sz="4400" b="1" kern="0" spc="71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44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Manager</a:t>
              </a:r>
              <a:r>
                <a:rPr sz="4400" b="1" kern="0" spc="10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sz="4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6" name="textbox 36"/>
          <p:cNvSpPr/>
          <p:nvPr/>
        </p:nvSpPr>
        <p:spPr>
          <a:xfrm>
            <a:off x="1021080" y="2673350"/>
            <a:ext cx="34170620" cy="2386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8600" b="1" kern="0" spc="140" dirty="0">
                <a:solidFill>
                  <a:srgbClr val="000000">
                    <a:alpha val="100000"/>
                  </a:srgbClr>
                </a:solidFill>
                <a:effectLst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解决方案架构：缓冲池管理器 </a:t>
            </a:r>
            <a:r>
              <a:rPr sz="8600" b="1" kern="0" spc="-80" dirty="0">
                <a:solidFill>
                  <a:srgbClr val="000000">
                    <a:alpha val="100000"/>
                  </a:srgbClr>
                </a:solidFill>
                <a:effectLst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(Buffer Poo</a:t>
            </a:r>
            <a:r>
              <a:rPr sz="8600" b="1" kern="0" spc="-90" dirty="0">
                <a:solidFill>
                  <a:srgbClr val="000000">
                    <a:alpha val="100000"/>
                  </a:srgbClr>
                </a:solidFill>
                <a:effectLst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</a:t>
            </a:r>
            <a:r>
              <a:rPr sz="8600" b="1" kern="0" spc="510" dirty="0">
                <a:solidFill>
                  <a:srgbClr val="000000">
                    <a:alpha val="100000"/>
                  </a:srgbClr>
                </a:solidFill>
                <a:effectLst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8600" b="1" kern="0" spc="-90" dirty="0">
                <a:solidFill>
                  <a:srgbClr val="000000">
                    <a:alpha val="100000"/>
                  </a:srgbClr>
                </a:solidFill>
                <a:effectLst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Manager)</a:t>
            </a:r>
            <a:endParaRPr sz="8600" b="1" dirty="0">
              <a:effectLst/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 rtl="0" eaLnBrk="0">
              <a:lnSpc>
                <a:spcPct val="179000"/>
              </a:lnSpc>
            </a:pPr>
            <a:endParaRPr sz="1000" b="1" dirty="0">
              <a:effectLst/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 rtl="0" eaLnBrk="0">
              <a:lnSpc>
                <a:spcPct val="100000"/>
              </a:lnSpc>
            </a:pPr>
            <a:r>
              <a:rPr sz="5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BPM</a:t>
            </a:r>
            <a:r>
              <a:rPr sz="5400" kern="0" spc="-4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2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作为数据库执行引擎和磁盘之间的缓存层，管理一个内存页池(称为“帧”),其核心目标是最小化磁盘I/O</a:t>
            </a:r>
            <a:r>
              <a:rPr sz="5000" kern="0" spc="-30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。</a:t>
            </a:r>
            <a:endParaRPr sz="50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27721419" y="10160000"/>
            <a:ext cx="7910685" cy="578046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" algn="l" rtl="0" eaLnBrk="0">
              <a:lnSpc>
                <a:spcPts val="5385"/>
              </a:lnSpc>
            </a:pPr>
            <a:r>
              <a:rPr sz="5400" kern="0" spc="2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映射</a:t>
            </a:r>
            <a:r>
              <a:rPr sz="5400" kern="0" spc="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page</a:t>
            </a:r>
            <a:r>
              <a:rPr sz="5400" kern="0" spc="2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_</a:t>
            </a:r>
            <a:r>
              <a:rPr sz="5400" kern="0" spc="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id</a:t>
            </a:r>
            <a:r>
              <a:rPr sz="6600" kern="0" spc="2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→</a:t>
            </a:r>
            <a:r>
              <a:rPr sz="5400" kern="0" spc="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frame</a:t>
            </a:r>
            <a:r>
              <a:rPr sz="5400" kern="0" spc="2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_</a:t>
            </a:r>
            <a:r>
              <a:rPr sz="5400" kern="0" spc="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id</a:t>
            </a:r>
            <a:endParaRPr sz="540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0000"/>
              </a:lnSpc>
              <a:spcBef>
                <a:spcPts val="5"/>
              </a:spcBef>
              <a:spcAft>
                <a:spcPts val="0"/>
              </a:spcAft>
            </a:pPr>
            <a:r>
              <a:rPr sz="5400" kern="0" spc="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跟踪页面使用情况</a:t>
            </a:r>
            <a:endParaRPr lang="en-US" sz="5400" kern="0" spc="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30000"/>
              </a:lnSpc>
              <a:spcBef>
                <a:spcPts val="5"/>
              </a:spcBef>
              <a:spcAft>
                <a:spcPts val="0"/>
              </a:spcAft>
            </a:pPr>
            <a:r>
              <a:rPr sz="5400" kern="0" spc="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决定淘汰</a:t>
            </a:r>
            <a:r>
              <a:rPr lang="zh-CN" altLang="en-US" sz="5400" kern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策略</a:t>
            </a:r>
            <a:endParaRPr sz="5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18543251" y="11170220"/>
            <a:ext cx="7794662" cy="727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 rtl="0" eaLnBrk="0">
              <a:lnSpc>
                <a:spcPct val="98000"/>
              </a:lnSpc>
            </a:pPr>
            <a:r>
              <a:rPr sz="4700" b="1" kern="0" spc="-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页表 </a:t>
            </a:r>
            <a:r>
              <a:rPr sz="4700" b="1" kern="0" spc="-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4000" b="1" kern="0" spc="-19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Extendible</a:t>
            </a:r>
            <a:r>
              <a:rPr lang="en-US" sz="4000" b="1" kern="0" spc="-19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sz="4000" b="1" kern="0" spc="-19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</a:t>
            </a:r>
            <a:r>
              <a:rPr sz="4000" b="1" kern="0" spc="-20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</a:t>
            </a:r>
            <a:r>
              <a:rPr lang="en-US" sz="4000" b="1" kern="0" spc="-20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sz="4000" b="1" kern="0" spc="-20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sz="4700" b="1" kern="0" spc="-2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47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3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sp>
        <p:nvSpPr>
          <p:cNvPr id="5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可扩展哈希</a:t>
            </a:r>
            <a:endParaRPr sz="5400" dirty="0"/>
          </a:p>
        </p:txBody>
      </p:sp>
      <p:sp>
        <p:nvSpPr>
          <p:cNvPr id="6" name="文本框 36"/>
          <p:cNvSpPr txBox="1"/>
          <p:nvPr/>
        </p:nvSpPr>
        <p:spPr>
          <a:xfrm>
            <a:off x="17292714" y="784019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5400" b="1" dirty="0"/>
              <a:t>LRU_K</a:t>
            </a:r>
            <a:r>
              <a:rPr lang="zh-CN" altLang="en-US" sz="5400" b="1" dirty="0"/>
              <a:t>置换</a:t>
            </a:r>
            <a:endParaRPr lang="en-US" sz="5400" b="1" dirty="0"/>
          </a:p>
        </p:txBody>
      </p:sp>
      <p:cxnSp>
        <p:nvCxnSpPr>
          <p:cNvPr id="7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8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8" y="511896"/>
            <a:ext cx="5647573" cy="1554597"/>
          </a:xfrm>
          <a:prstGeom prst="rect">
            <a:avLst/>
          </a:prstGeom>
        </p:spPr>
      </p:pic>
      <p:sp>
        <p:nvSpPr>
          <p:cNvPr id="9" name="文本框 35"/>
          <p:cNvSpPr txBox="1"/>
          <p:nvPr/>
        </p:nvSpPr>
        <p:spPr>
          <a:xfrm>
            <a:off x="16288964" y="1739858"/>
            <a:ext cx="2476388" cy="1222099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endParaRPr dirty="0"/>
          </a:p>
        </p:txBody>
      </p:sp>
      <p:pic>
        <p:nvPicPr>
          <p:cNvPr id="10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714" y="-97448"/>
            <a:ext cx="4613574" cy="2449022"/>
          </a:xfrm>
          <a:prstGeom prst="rect">
            <a:avLst/>
          </a:prstGeom>
        </p:spPr>
      </p:pic>
      <p:sp>
        <p:nvSpPr>
          <p:cNvPr id="11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>
                <a:solidFill>
                  <a:schemeClr val="bg1"/>
                </a:solidFill>
              </a:rPr>
              <a:t>实验一</a:t>
            </a:r>
            <a:endParaRPr sz="7110" b="1" dirty="0">
              <a:solidFill>
                <a:schemeClr val="bg1"/>
              </a:solidFill>
            </a:endParaRPr>
          </a:p>
        </p:txBody>
      </p:sp>
      <p:sp>
        <p:nvSpPr>
          <p:cNvPr id="12" name="文本框 36"/>
          <p:cNvSpPr txBox="1"/>
          <p:nvPr/>
        </p:nvSpPr>
        <p:spPr>
          <a:xfrm>
            <a:off x="22840641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缓冲池管理</a:t>
            </a:r>
            <a:endParaRPr lang="en-US" sz="5400" b="1" dirty="0"/>
          </a:p>
        </p:txBody>
      </p:sp>
      <p:cxnSp>
        <p:nvCxnSpPr>
          <p:cNvPr id="13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15" name="文本框 14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4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 44"/>
          <p:cNvSpPr/>
          <p:nvPr/>
        </p:nvSpPr>
        <p:spPr>
          <a:xfrm>
            <a:off x="0" y="0"/>
            <a:ext cx="36404550" cy="20320000"/>
          </a:xfrm>
          <a:prstGeom prst="rect">
            <a:avLst/>
          </a:prstGeom>
          <a:solidFill>
            <a:srgbClr val="F8F4E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textbox 46"/>
          <p:cNvSpPr/>
          <p:nvPr/>
        </p:nvSpPr>
        <p:spPr>
          <a:xfrm>
            <a:off x="1044180" y="3340789"/>
            <a:ext cx="18357270" cy="1793404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88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核心组件一：可扩展哈希表</a:t>
            </a:r>
            <a:endParaRPr sz="8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实现高效的</a:t>
            </a:r>
            <a:r>
              <a:rPr sz="5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页查找</a:t>
            </a:r>
            <a:r>
              <a:rPr sz="5400" kern="0" spc="-5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(Page</a:t>
            </a:r>
            <a:r>
              <a:rPr lang="en-US"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ID</a:t>
            </a:r>
            <a:r>
              <a:rPr lang="en-US"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→</a:t>
            </a:r>
            <a:r>
              <a:rPr lang="en-US"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Frame ID)</a:t>
            </a:r>
            <a:endParaRPr sz="5400" kern="0" spc="18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6600" b="1" kern="0" spc="7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目的</a:t>
            </a:r>
            <a:endParaRPr lang="en-US" sz="6600" b="1" kern="0" spc="7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335" indent="-83121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</a:rPr>
              <a:t>快速判断一个页面是否存在于缓冲池</a:t>
            </a:r>
            <a:r>
              <a:rPr lang="zh-CN" altLang="en-US" sz="5400" kern="0" spc="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</a:rPr>
              <a:t>中</a:t>
            </a: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</a:rPr>
              <a:t>以及它位于哪个帧</a:t>
            </a:r>
            <a:endParaRPr sz="5400" kern="0" spc="18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105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6600" b="1" kern="0" spc="-44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核心概念</a:t>
            </a:r>
            <a:endParaRPr sz="6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105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105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1708150" indent="-68580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目录</a:t>
            </a:r>
            <a:r>
              <a:rPr lang="zh-CN" altLang="en-US" sz="6000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一个指向桶的指针数组</a:t>
            </a:r>
            <a:r>
              <a:rPr lang="zh-CN" altLang="en-US"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其大小</a:t>
            </a:r>
            <a:endParaRPr lang="en-US" sz="5400" kern="0" spc="180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022350" indent="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   </a:t>
            </a: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由global_depth</a:t>
            </a:r>
            <a:r>
              <a:rPr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全局深度</a:t>
            </a:r>
            <a:r>
              <a:rPr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决定</a:t>
            </a:r>
            <a:r>
              <a:rPr lang="zh-CN" altLang="en-US"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为2</a:t>
            </a:r>
            <a:r>
              <a:rPr sz="5400" kern="0" spc="180" baseline="300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global_depth</a:t>
            </a:r>
          </a:p>
          <a:p>
            <a:pPr marL="171450" indent="-17145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sz="105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1879600" indent="-85725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60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60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桶</a:t>
            </a:r>
            <a:r>
              <a:rPr lang="zh-CN" altLang="en-US" sz="60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存储实际的</a:t>
            </a:r>
            <a:r>
              <a:rPr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&lt;page_id, </a:t>
            </a: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frame_id</a:t>
            </a:r>
            <a:r>
              <a:rPr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&gt;</a:t>
            </a:r>
            <a:r>
              <a:rPr lang="zh-CN" altLang="en-US"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键</a:t>
            </a: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值对</a:t>
            </a:r>
            <a:endParaRPr lang="en-US" sz="5400" kern="0" spc="180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022350" indent="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   </a:t>
            </a: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每个桶拥有一个local</a:t>
            </a:r>
            <a:r>
              <a:rPr lang="en-US"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_</a:t>
            </a: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depth</a:t>
            </a:r>
            <a:r>
              <a:rPr lang="en-US" altLang="zh-CN"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zh-CN" altLang="en-US"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局部深度</a:t>
            </a:r>
            <a:r>
              <a:rPr lang="en-US" altLang="zh-CN" sz="54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endParaRPr sz="5400" kern="0" spc="180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285750" indent="-28575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sz="160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171450" indent="-17145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sz="20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1879600" indent="-85725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6000" kern="0" spc="-3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关键特性：</a:t>
            </a:r>
            <a:r>
              <a:rPr sz="5400" kern="0" spc="1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多个目录项可以指向同一个桶</a:t>
            </a:r>
            <a:endParaRPr sz="5400" kern="0" spc="180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475339" y="7328001"/>
            <a:ext cx="15017968" cy="10140899"/>
          </a:xfrm>
          <a:prstGeom prst="rect">
            <a:avLst/>
          </a:prstGeom>
        </p:spPr>
      </p:pic>
      <p:graphicFrame>
        <p:nvGraphicFramePr>
          <p:cNvPr id="50" name="table 50"/>
          <p:cNvGraphicFramePr>
            <a:graphicFrameLocks noGrp="1"/>
          </p:cNvGraphicFramePr>
          <p:nvPr/>
        </p:nvGraphicFramePr>
        <p:xfrm>
          <a:off x="20570914" y="8075853"/>
          <a:ext cx="12978128" cy="8463915"/>
        </p:xfrm>
        <a:graphic>
          <a:graphicData uri="http://schemas.openxmlformats.org/drawingml/2006/table">
            <a:tbl>
              <a:tblPr/>
              <a:tblGrid>
                <a:gridCol w="6579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8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639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53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目录</a:t>
                      </a:r>
                      <a:r>
                        <a:rPr sz="53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(Directory)</a:t>
                      </a:r>
                      <a:endParaRPr sz="5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88490" algn="l" rtl="0" eaLnBrk="0">
                        <a:lnSpc>
                          <a:spcPts val="5930"/>
                        </a:lnSpc>
                        <a:spcBef>
                          <a:spcPts val="1295"/>
                        </a:spcBef>
                      </a:pPr>
                      <a:r>
                        <a:rPr sz="4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00</a:t>
                      </a:r>
                      <a:endParaRPr sz="4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88490" algn="l" rtl="0" eaLnBrk="0">
                        <a:lnSpc>
                          <a:spcPts val="5930"/>
                        </a:lnSpc>
                        <a:spcBef>
                          <a:spcPts val="1290"/>
                        </a:spcBef>
                      </a:pPr>
                      <a:r>
                        <a:rPr sz="4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01</a:t>
                      </a:r>
                      <a:endParaRPr sz="4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88490" algn="l" rtl="0" eaLnBrk="0">
                        <a:lnSpc>
                          <a:spcPts val="5930"/>
                        </a:lnSpc>
                        <a:spcBef>
                          <a:spcPts val="1300"/>
                        </a:spcBef>
                      </a:pPr>
                      <a:r>
                        <a:rPr sz="43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10</a:t>
                      </a:r>
                      <a:endParaRPr sz="4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88490" algn="l" rtl="0" eaLnBrk="0">
                        <a:lnSpc>
                          <a:spcPct val="82000"/>
                        </a:lnSpc>
                      </a:pPr>
                      <a:r>
                        <a:rPr sz="43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11</a:t>
                      </a:r>
                      <a:endParaRPr sz="4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30855" algn="l" rtl="0" eaLnBrk="0">
                        <a:lnSpc>
                          <a:spcPct val="80000"/>
                        </a:lnSpc>
                      </a:pPr>
                      <a:r>
                        <a:rPr sz="5300" b="1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Bucket A</a:t>
                      </a:r>
                      <a:endParaRPr sz="5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89455" algn="l" rtl="0" eaLnBrk="0">
                        <a:lnSpc>
                          <a:spcPts val="6225"/>
                        </a:lnSpc>
                        <a:spcBef>
                          <a:spcPts val="645"/>
                        </a:spcBef>
                      </a:pPr>
                      <a:r>
                        <a:rPr lang="en-US" sz="4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4300" b="1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local</a:t>
                      </a:r>
                      <a:r>
                        <a:rPr sz="4300" b="1" kern="0" spc="4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4300" b="1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depth</a:t>
                      </a:r>
                      <a:r>
                        <a:rPr lang="en-US" sz="4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4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=2</a:t>
                      </a:r>
                      <a:endParaRPr sz="4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30855" algn="l" rtl="0" eaLnBrk="0">
                        <a:lnSpc>
                          <a:spcPct val="76000"/>
                        </a:lnSpc>
                        <a:spcBef>
                          <a:spcPts val="1600"/>
                        </a:spcBef>
                      </a:pPr>
                      <a:r>
                        <a:rPr sz="5300" b="1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Bucket</a:t>
                      </a:r>
                      <a:r>
                        <a:rPr sz="5300" b="1" kern="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5300" b="1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</a:t>
                      </a:r>
                      <a:endParaRPr sz="5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6885"/>
                        </a:lnSpc>
                      </a:pPr>
                      <a:r>
                        <a:rPr sz="4400" b="1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local</a:t>
                      </a:r>
                      <a:r>
                        <a:rPr sz="4400" b="1" kern="0" spc="1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4400" b="1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depth</a:t>
                      </a:r>
                      <a:r>
                        <a:rPr lang="en-US" sz="4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4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=2</a:t>
                      </a:r>
                      <a:endParaRPr sz="44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30855" algn="l" rtl="0" eaLnBrk="0">
                        <a:lnSpc>
                          <a:spcPct val="79000"/>
                        </a:lnSpc>
                        <a:spcBef>
                          <a:spcPts val="1510"/>
                        </a:spcBef>
                      </a:pPr>
                      <a:r>
                        <a:rPr sz="50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Bucket</a:t>
                      </a:r>
                      <a:r>
                        <a:rPr sz="50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50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endParaRPr sz="5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6830"/>
                        </a:lnSpc>
                      </a:pPr>
                      <a:r>
                        <a:rPr sz="4400" b="1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local</a:t>
                      </a:r>
                      <a:r>
                        <a:rPr sz="4400" b="1" kern="0" spc="1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4400" b="1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depth</a:t>
                      </a:r>
                      <a:r>
                        <a:rPr lang="en-US" sz="4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4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=1</a:t>
                      </a:r>
                      <a:endParaRPr sz="44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textbox 52"/>
          <p:cNvSpPr/>
          <p:nvPr/>
        </p:nvSpPr>
        <p:spPr>
          <a:xfrm>
            <a:off x="20146298" y="6355993"/>
            <a:ext cx="13402744" cy="899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885"/>
              </a:lnSpc>
            </a:pPr>
            <a:r>
              <a:rPr sz="5000" b="1" kern="0" spc="-1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global_depth</a:t>
            </a:r>
            <a:r>
              <a:rPr sz="50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=2                          </a:t>
            </a:r>
            <a:r>
              <a:rPr sz="53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桶</a:t>
            </a:r>
            <a:r>
              <a:rPr sz="53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(B</a:t>
            </a:r>
            <a:r>
              <a:rPr sz="53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uckets)</a:t>
            </a:r>
            <a:endParaRPr sz="5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sp>
        <p:nvSpPr>
          <p:cNvPr id="5" name="文本框 36"/>
          <p:cNvSpPr txBox="1"/>
          <p:nvPr/>
        </p:nvSpPr>
        <p:spPr>
          <a:xfrm>
            <a:off x="17292714" y="784019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5400" b="1" dirty="0"/>
              <a:t>LRU_K</a:t>
            </a:r>
            <a:r>
              <a:rPr lang="zh-CN" altLang="en-US" sz="5400" b="1" dirty="0"/>
              <a:t>置换</a:t>
            </a:r>
            <a:endParaRPr lang="en-US" sz="5400" b="1" dirty="0"/>
          </a:p>
        </p:txBody>
      </p:sp>
      <p:cxnSp>
        <p:nvCxnSpPr>
          <p:cNvPr id="6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7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8" y="511896"/>
            <a:ext cx="5647573" cy="1554597"/>
          </a:xfrm>
          <a:prstGeom prst="rect">
            <a:avLst/>
          </a:prstGeom>
        </p:spPr>
      </p:pic>
      <p:pic>
        <p:nvPicPr>
          <p:cNvPr id="9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8977" y="-98115"/>
            <a:ext cx="5559481" cy="2449022"/>
          </a:xfrm>
          <a:prstGeom prst="rect">
            <a:avLst/>
          </a:prstGeom>
        </p:spPr>
      </p:pic>
      <p:sp>
        <p:nvSpPr>
          <p:cNvPr id="8" name="文本框 35"/>
          <p:cNvSpPr txBox="1"/>
          <p:nvPr/>
        </p:nvSpPr>
        <p:spPr>
          <a:xfrm>
            <a:off x="16288964" y="1739858"/>
            <a:ext cx="2476388" cy="1222099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endParaRPr dirty="0"/>
          </a:p>
        </p:txBody>
      </p:sp>
      <p:sp>
        <p:nvSpPr>
          <p:cNvPr id="10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实验一</a:t>
            </a:r>
            <a:endParaRPr sz="7110" b="1" dirty="0"/>
          </a:p>
        </p:txBody>
      </p:sp>
      <p:sp>
        <p:nvSpPr>
          <p:cNvPr id="11" name="文本框 36"/>
          <p:cNvSpPr txBox="1"/>
          <p:nvPr/>
        </p:nvSpPr>
        <p:spPr>
          <a:xfrm>
            <a:off x="22840641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缓冲池管理</a:t>
            </a:r>
            <a:endParaRPr lang="en-US" sz="5400" b="1" dirty="0"/>
          </a:p>
        </p:txBody>
      </p:sp>
      <p:cxnSp>
        <p:nvCxnSpPr>
          <p:cNvPr id="12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4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可扩展哈希</a:t>
            </a:r>
            <a:endParaRPr sz="5400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5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 56"/>
          <p:cNvSpPr/>
          <p:nvPr/>
        </p:nvSpPr>
        <p:spPr>
          <a:xfrm>
            <a:off x="0" y="0"/>
            <a:ext cx="36404550" cy="20320000"/>
          </a:xfrm>
          <a:prstGeom prst="rect">
            <a:avLst/>
          </a:prstGeom>
          <a:solidFill>
            <a:srgbClr val="F7F4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046827" y="4044901"/>
            <a:ext cx="16535310" cy="13773300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1885950" y="4376420"/>
            <a:ext cx="16316325" cy="13843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kern="0" spc="-6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1. </a:t>
            </a:r>
            <a:r>
              <a:rPr sz="5000" b="1" kern="0" spc="-6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查找</a:t>
            </a:r>
            <a:endParaRPr lang="en-US" sz="5000" b="1" kern="0" spc="-60" dirty="0">
              <a:solidFill>
                <a:schemeClr val="tx1">
                  <a:alpha val="10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13335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000" b="1" kern="0" spc="18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5000" kern="0" spc="18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使用键哈希值的前</a:t>
            </a:r>
            <a:r>
              <a:rPr sz="5000" kern="0" spc="180" dirty="0" err="1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global</a:t>
            </a:r>
            <a:r>
              <a:rPr lang="en-US" sz="5000" kern="0" spc="180" dirty="0" err="1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_</a:t>
            </a:r>
            <a:r>
              <a:rPr sz="5000" kern="0" spc="180" dirty="0" err="1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depth</a:t>
            </a:r>
            <a:r>
              <a:rPr sz="5000" kern="0" spc="17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位作为索引，</a:t>
            </a:r>
            <a:r>
              <a:rPr sz="5000" kern="0" spc="-13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目录中找到对应的桶指针</a:t>
            </a:r>
            <a:endParaRPr sz="5000" dirty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kern="0" spc="-6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2. 插入</a:t>
            </a:r>
          </a:p>
          <a:p>
            <a:pPr marL="83820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000" kern="0" spc="18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定位到桶后，如果桶未满，直接插入。</a:t>
            </a:r>
            <a:endParaRPr sz="5000" dirty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kern="0" spc="-6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3. 分裂</a:t>
            </a:r>
          </a:p>
          <a:p>
            <a:pPr marL="82931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000" kern="0" spc="10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如果桶已满，则触发分</a:t>
            </a:r>
            <a:r>
              <a:rPr sz="5000" kern="0" spc="9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裂：</a:t>
            </a:r>
            <a:endParaRPr sz="50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520190" indent="-68580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5000" kern="0" spc="-14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情况</a:t>
            </a:r>
            <a:r>
              <a:rPr sz="5000" kern="0" spc="-140" dirty="0" err="1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lang="en-US" sz="5000" kern="0" spc="-140" dirty="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5000" kern="0" spc="-140" dirty="0" err="1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local_depth</a:t>
            </a:r>
            <a:r>
              <a:rPr sz="5000" kern="0" spc="-140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=</a:t>
            </a:r>
            <a:r>
              <a:rPr lang="en-US" sz="5000" kern="0" spc="-140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000" kern="0" spc="-140" dirty="0" err="1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global_depth</a:t>
            </a:r>
            <a:endParaRPr lang="en-US" sz="5000" kern="0" spc="-14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834390" indent="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目录已满</a:t>
            </a:r>
            <a:r>
              <a:rPr lang="en-US"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需要将目录大小加倍，并</a:t>
            </a:r>
            <a:r>
              <a:rPr lang="zh-CN" altLang="en-US" sz="5000" kern="0" spc="10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递增</a:t>
            </a:r>
            <a:r>
              <a:rPr sz="5000" kern="0" spc="180" dirty="0" err="1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global_depth</a:t>
            </a:r>
            <a:endParaRPr sz="5000" kern="0" spc="18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515110" indent="-68580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5000" kern="0" spc="-14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情况</a:t>
            </a:r>
            <a:r>
              <a:rPr lang="en-US" sz="5000" kern="0" spc="-14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r>
              <a:rPr lang="en-US" sz="5000" kern="0" spc="-14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sz="5000" kern="0" spc="-20" dirty="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0" kern="0" spc="-140" dirty="0" err="1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local_depth</a:t>
            </a:r>
            <a:r>
              <a:rPr lang="en-US" sz="5000" kern="0" spc="-140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000" kern="0" spc="-140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</a:t>
            </a:r>
            <a:r>
              <a:rPr lang="en-US" sz="5000" kern="0" spc="-140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000" kern="0" spc="-140" dirty="0" err="1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global_depth</a:t>
            </a:r>
            <a:endParaRPr lang="en-US" sz="5000" kern="0" spc="-14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485265" indent="-655955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目录无需扩展。仅分裂桶即可</a:t>
            </a:r>
          </a:p>
          <a:p>
            <a:pPr marL="1485265" indent="-655955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000" kern="0" spc="-14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分裂过程</a:t>
            </a:r>
            <a:r>
              <a:rPr lang="zh-CN" sz="5000" kern="0" spc="-14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：</a:t>
            </a:r>
            <a:r>
              <a:rPr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递增桶的</a:t>
            </a:r>
            <a:r>
              <a:rPr sz="5000" kern="0" spc="180" dirty="0" err="1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local</a:t>
            </a:r>
            <a:r>
              <a:rPr lang="en-US" sz="5000" kern="0" spc="180" dirty="0" err="1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_</a:t>
            </a:r>
            <a:r>
              <a:rPr sz="5000" kern="0" spc="180" dirty="0" err="1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depth</a:t>
            </a:r>
            <a:r>
              <a:rPr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,创建一个新桶并根据</a:t>
            </a:r>
            <a:r>
              <a:rPr lang="en-US"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  </a:t>
            </a:r>
          </a:p>
          <a:p>
            <a:pPr marL="1485265" indent="-655955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新的</a:t>
            </a:r>
            <a:r>
              <a:rPr lang="zh-CN"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更</a:t>
            </a:r>
            <a:r>
              <a:rPr lang="zh-CN" altLang="en-US" sz="5000" kern="0" spc="10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长</a:t>
            </a:r>
            <a:r>
              <a:rPr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的位前缀将原桶内的键值对重新分</a:t>
            </a:r>
            <a:r>
              <a:rPr lang="en-US"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配到两个</a:t>
            </a:r>
          </a:p>
          <a:p>
            <a:pPr marL="1485265" indent="-655955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000" kern="0" spc="100" dirty="0" err="1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桶中最后更新目录指针</a:t>
            </a:r>
            <a:r>
              <a:rPr sz="5000" b="1" kern="0" spc="7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</a:p>
        </p:txBody>
      </p:sp>
      <p:graphicFrame>
        <p:nvGraphicFramePr>
          <p:cNvPr id="62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670014"/>
              </p:ext>
            </p:extLst>
          </p:nvPr>
        </p:nvGraphicFramePr>
        <p:xfrm>
          <a:off x="18936374" y="4990609"/>
          <a:ext cx="15645763" cy="12212319"/>
        </p:xfrm>
        <a:graphic>
          <a:graphicData uri="http://schemas.openxmlformats.org/drawingml/2006/table">
            <a:tbl>
              <a:tblPr/>
              <a:tblGrid>
                <a:gridCol w="3125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1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5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7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63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2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7050" algn="l" rtl="0" eaLnBrk="0">
                        <a:lnSpc>
                          <a:spcPct val="81000"/>
                        </a:lnSpc>
                      </a:pPr>
                      <a:r>
                        <a:rPr sz="2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Directory</a:t>
                      </a:r>
                      <a:endParaRPr sz="2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400" algn="l" rtl="0" eaLnBrk="0">
                        <a:lnSpc>
                          <a:spcPct val="119000"/>
                        </a:lnSpc>
                        <a:spcBef>
                          <a:spcPts val="1120"/>
                        </a:spcBef>
                      </a:pPr>
                      <a:r>
                        <a:rPr lang="en-US" sz="2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g</a:t>
                      </a:r>
                      <a:r>
                        <a:rPr sz="2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loba</a:t>
                      </a:r>
                      <a:r>
                        <a:rPr lang="en-US" sz="2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l_</a:t>
                      </a:r>
                      <a:r>
                        <a:rPr sz="2300" kern="0" spc="-5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depth</a:t>
                      </a:r>
                      <a:r>
                        <a:rPr sz="2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3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lang="en-US" sz="23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3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endParaRPr sz="2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4100" algn="l" rtl="0" eaLnBrk="0">
                        <a:lnSpc>
                          <a:spcPct val="78000"/>
                        </a:lnSpc>
                        <a:spcBef>
                          <a:spcPts val="750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00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4100" algn="l" rtl="0" eaLnBrk="0">
                        <a:lnSpc>
                          <a:spcPct val="78000"/>
                        </a:lnSpc>
                        <a:spcBef>
                          <a:spcPts val="700"/>
                        </a:spcBef>
                      </a:pPr>
                      <a:r>
                        <a:rPr sz="2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01</a:t>
                      </a:r>
                      <a:endParaRPr sz="23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4100" algn="l" rtl="0" eaLnBrk="0">
                        <a:lnSpc>
                          <a:spcPct val="78000"/>
                        </a:lnSpc>
                        <a:spcBef>
                          <a:spcPts val="700"/>
                        </a:spcBef>
                      </a:pPr>
                      <a:r>
                        <a:rPr sz="2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10</a:t>
                      </a:r>
                      <a:endParaRPr sz="23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4100" algn="l" rtl="0" eaLnBrk="0">
                        <a:lnSpc>
                          <a:spcPct val="78000"/>
                        </a:lnSpc>
                      </a:pPr>
                      <a:r>
                        <a:rPr sz="2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11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63930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</a:pPr>
                      <a:r>
                        <a:rPr sz="2900" b="1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Bucket</a:t>
                      </a:r>
                      <a:r>
                        <a:rPr sz="29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900" b="1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endParaRPr sz="2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9280" algn="l" rtl="0" eaLnBrk="0">
                        <a:lnSpc>
                          <a:spcPct val="119000"/>
                        </a:lnSpc>
                        <a:spcBef>
                          <a:spcPts val="10"/>
                        </a:spcBef>
                      </a:pPr>
                      <a:r>
                        <a:rPr lang="en-US" sz="25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25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ocal</a:t>
                      </a:r>
                      <a:r>
                        <a:rPr lang="en-US" sz="2500" u="dotted" kern="0" spc="1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25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depth</a:t>
                      </a:r>
                      <a:r>
                        <a:rPr lang="en-US"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lang="en-US" sz="2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endParaRPr sz="2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4880" algn="l" rtl="0" eaLnBrk="0">
                        <a:lnSpc>
                          <a:spcPts val="5520"/>
                        </a:lnSpc>
                        <a:spcBef>
                          <a:spcPts val="1570"/>
                        </a:spcBef>
                      </a:pPr>
                      <a:r>
                        <a:rPr lang="en-US" sz="35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&lt;</a:t>
                      </a:r>
                      <a:r>
                        <a:rPr sz="3500" kern="0" spc="-15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key,val</a:t>
                      </a:r>
                      <a:r>
                        <a:rPr lang="en-US" sz="35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&gt;</a:t>
                      </a:r>
                      <a:r>
                        <a:rPr sz="35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36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&lt;</a:t>
                      </a:r>
                      <a:r>
                        <a:rPr sz="3600" kern="0" spc="-14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key</a:t>
                      </a:r>
                      <a:r>
                        <a:rPr lang="en-US" altLang="zh-CN" sz="3600" kern="0" spc="-15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,</a:t>
                      </a:r>
                      <a:r>
                        <a:rPr sz="3600" kern="0" spc="-14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val</a:t>
                      </a:r>
                      <a:r>
                        <a:rPr lang="en-US" sz="36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&gt;</a:t>
                      </a:r>
                      <a:endParaRPr sz="3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marL="963930" algn="l" rtl="0" eaLnBrk="0">
                        <a:lnSpc>
                          <a:spcPct val="80000"/>
                        </a:lnSpc>
                        <a:spcBef>
                          <a:spcPts val="945"/>
                        </a:spcBef>
                      </a:pPr>
                      <a:r>
                        <a:rPr sz="36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&lt;</a:t>
                      </a:r>
                      <a:r>
                        <a:rPr sz="3600" kern="0" spc="-8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key</a:t>
                      </a:r>
                      <a:r>
                        <a:rPr lang="en-US" altLang="zh-CN" sz="3600" kern="0" spc="-15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,</a:t>
                      </a:r>
                      <a:r>
                        <a:rPr sz="3600" kern="0" spc="-8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val</a:t>
                      </a:r>
                      <a:r>
                        <a:rPr lang="en-US" sz="36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&gt;</a:t>
                      </a:r>
                      <a:endParaRPr sz="3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63930" algn="l" rtl="0" eaLnBrk="0">
                        <a:lnSpc>
                          <a:spcPts val="3475"/>
                        </a:lnSpc>
                      </a:pPr>
                      <a:r>
                        <a:rPr sz="2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&lt;</a:t>
                      </a:r>
                      <a:r>
                        <a:rPr sz="25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key</a:t>
                      </a:r>
                      <a:r>
                        <a:rPr lang="en-US" altLang="zh-CN" sz="2800" kern="0" spc="-15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,</a:t>
                      </a:r>
                      <a:r>
                        <a:rPr sz="25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</a:t>
                      </a:r>
                      <a:r>
                        <a:rPr lang="en-US"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&gt;</a:t>
                      </a:r>
                      <a:endParaRPr sz="2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2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85290" algn="l" rtl="0" eaLnBrk="0">
                        <a:lnSpc>
                          <a:spcPct val="81000"/>
                        </a:lnSpc>
                      </a:pPr>
                      <a:r>
                        <a:rPr sz="2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Directory</a:t>
                      </a:r>
                      <a:endParaRPr sz="2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89355" algn="l" rtl="0" eaLnBrk="0">
                        <a:lnSpc>
                          <a:spcPct val="118000"/>
                        </a:lnSpc>
                        <a:spcBef>
                          <a:spcPts val="890"/>
                        </a:spcBef>
                      </a:pPr>
                      <a:r>
                        <a:rPr lang="en-US" altLang="zh-CN"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global_</a:t>
                      </a:r>
                      <a:r>
                        <a:rPr lang="en-US" altLang="zh-CN" sz="2400" kern="0" spc="-5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en-US" altLang="zh-CN"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depth</a:t>
                      </a:r>
                      <a:r>
                        <a:rPr sz="2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=2</a:t>
                      </a:r>
                      <a:endParaRPr sz="2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24405" algn="l" rtl="0" eaLnBrk="0">
                        <a:lnSpc>
                          <a:spcPct val="78000"/>
                        </a:lnSpc>
                        <a:spcBef>
                          <a:spcPts val="760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00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24405" algn="l" rtl="0" eaLnBrk="0">
                        <a:lnSpc>
                          <a:spcPct val="78000"/>
                        </a:lnSpc>
                        <a:spcBef>
                          <a:spcPts val="700"/>
                        </a:spcBef>
                      </a:pPr>
                      <a:r>
                        <a:rPr sz="2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01</a:t>
                      </a:r>
                      <a:endParaRPr sz="23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24405" algn="l" rtl="0" eaLnBrk="0">
                        <a:lnSpc>
                          <a:spcPct val="78000"/>
                        </a:lnSpc>
                        <a:spcBef>
                          <a:spcPts val="755"/>
                        </a:spcBef>
                      </a:pPr>
                      <a:r>
                        <a:rPr sz="2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10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2440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2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11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990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75485" algn="l" rtl="0" eaLnBrk="0">
                        <a:lnSpc>
                          <a:spcPct val="97000"/>
                        </a:lnSpc>
                      </a:pPr>
                      <a:r>
                        <a:rPr sz="4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</a:t>
                      </a:r>
                      <a:r>
                        <a:rPr sz="4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初始状态</a:t>
                      </a:r>
                      <a:endParaRPr sz="40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62325" algn="l" rtl="0" eaLnBrk="0">
                        <a:lnSpc>
                          <a:spcPct val="97000"/>
                        </a:lnSpc>
                      </a:pPr>
                      <a:r>
                        <a:rPr sz="4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</a:t>
                      </a:r>
                      <a:r>
                        <a:rPr sz="4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插入溢出</a:t>
                      </a:r>
                      <a:endParaRPr sz="40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2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0065" algn="l" rtl="0" eaLnBrk="0">
                        <a:lnSpc>
                          <a:spcPct val="82000"/>
                        </a:lnSpc>
                      </a:pPr>
                      <a:r>
                        <a:rPr sz="2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Directory</a:t>
                      </a:r>
                      <a:endParaRPr sz="2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spcBef>
                          <a:spcPts val="685"/>
                        </a:spcBef>
                      </a:pPr>
                      <a:r>
                        <a:rPr lang="en-US" altLang="zh-CN"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global_</a:t>
                      </a:r>
                      <a:r>
                        <a:rPr lang="en-US" altLang="zh-CN" sz="2400" kern="0" spc="-5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en-US" altLang="zh-CN"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depth</a:t>
                      </a:r>
                      <a:r>
                        <a:rPr sz="2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=2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4100" algn="l" rtl="0" eaLnBrk="0">
                        <a:lnSpc>
                          <a:spcPct val="78000"/>
                        </a:lnSpc>
                        <a:spcBef>
                          <a:spcPts val="755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00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4100" algn="l" rtl="0" eaLnBrk="0">
                        <a:lnSpc>
                          <a:spcPct val="78000"/>
                        </a:lnSpc>
                        <a:spcBef>
                          <a:spcPts val="760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01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4100" algn="l" rtl="0" eaLnBrk="0">
                        <a:lnSpc>
                          <a:spcPct val="78000"/>
                        </a:lnSpc>
                        <a:spcBef>
                          <a:spcPts val="750"/>
                        </a:spcBef>
                      </a:pPr>
                      <a:r>
                        <a:rPr sz="2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10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4100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23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1l</a:t>
                      </a:r>
                      <a:endParaRPr sz="23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89330" algn="l" rtl="0" eaLnBrk="0">
                        <a:lnSpc>
                          <a:spcPct val="79000"/>
                        </a:lnSpc>
                        <a:spcBef>
                          <a:spcPts val="0"/>
                        </a:spcBef>
                      </a:pPr>
                      <a:r>
                        <a:rPr sz="2900" b="1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Bucket</a:t>
                      </a:r>
                      <a:r>
                        <a:rPr sz="29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900" b="1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endParaRPr sz="2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14680" algn="l" rtl="0" eaLnBrk="0">
                        <a:lnSpc>
                          <a:spcPct val="115000"/>
                        </a:lnSpc>
                        <a:spcBef>
                          <a:spcPts val="25"/>
                        </a:spcBef>
                      </a:pPr>
                      <a:r>
                        <a:rPr lang="en-US" altLang="zh-CN" sz="25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local_depth</a:t>
                      </a:r>
                      <a:r>
                        <a:rPr lang="en-US" altLang="zh-CN"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=2</a:t>
                      </a:r>
                      <a:endParaRPr sz="2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66495" algn="l" rtl="0" eaLnBrk="0">
                        <a:lnSpc>
                          <a:spcPts val="5650"/>
                        </a:lnSpc>
                      </a:pPr>
                      <a:r>
                        <a:rPr lang="en-US" sz="2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&lt;</a:t>
                      </a:r>
                      <a:r>
                        <a:rPr sz="23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key</a:t>
                      </a:r>
                      <a:r>
                        <a:rPr sz="2300" kern="0" spc="7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,</a:t>
                      </a:r>
                      <a:r>
                        <a:rPr sz="23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</a:t>
                      </a:r>
                      <a:r>
                        <a:rPr lang="en-US" sz="2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&gt;</a:t>
                      </a:r>
                      <a:endParaRPr sz="2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89330" algn="l" rtl="0" eaLnBrk="0">
                        <a:lnSpc>
                          <a:spcPts val="2175"/>
                        </a:lnSpc>
                        <a:spcBef>
                          <a:spcPts val="875"/>
                        </a:spcBef>
                      </a:pPr>
                      <a:r>
                        <a:rPr sz="29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Bucket</a:t>
                      </a:r>
                      <a:r>
                        <a:rPr sz="29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9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endParaRPr sz="2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14680" algn="l" rtl="0" eaLnBrk="0">
                        <a:lnSpc>
                          <a:spcPct val="118000"/>
                        </a:lnSpc>
                        <a:spcBef>
                          <a:spcPts val="35"/>
                        </a:spcBef>
                      </a:pPr>
                      <a:r>
                        <a:rPr lang="en-US" altLang="zh-CN" sz="28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local</a:t>
                      </a:r>
                      <a:r>
                        <a:rPr lang="en-US" altLang="zh-CN" sz="2800" u="dotted" kern="0" spc="1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lang="en-US" altLang="zh-CN" sz="28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depth</a:t>
                      </a:r>
                      <a:r>
                        <a:rPr lang="en-US" altLang="zh-CN"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=2</a:t>
                      </a:r>
                      <a:endParaRPr sz="2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89330" algn="l" rtl="0" eaLnBrk="0">
                        <a:lnSpc>
                          <a:spcPts val="5490"/>
                        </a:lnSpc>
                        <a:spcBef>
                          <a:spcPts val="805"/>
                        </a:spcBef>
                      </a:pPr>
                      <a:r>
                        <a:rPr lang="en-US" sz="30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&lt;</a:t>
                      </a:r>
                      <a:r>
                        <a:rPr sz="3000" kern="0" spc="-12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key,val</a:t>
                      </a:r>
                      <a:r>
                        <a:rPr lang="en-US" sz="30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&gt;</a:t>
                      </a:r>
                      <a:endParaRPr sz="3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89330" algn="l" rtl="0" eaLnBrk="0">
                        <a:lnSpc>
                          <a:spcPts val="4010"/>
                        </a:lnSpc>
                      </a:pPr>
                      <a:r>
                        <a:rPr sz="2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&lt;</a:t>
                      </a:r>
                      <a:r>
                        <a:rPr sz="25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key</a:t>
                      </a:r>
                      <a:r>
                        <a:rPr sz="2500" kern="0" spc="4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25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val</a:t>
                      </a:r>
                      <a:r>
                        <a:rPr lang="en-US"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&gt;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67205" algn="l" rtl="0" eaLnBrk="0">
                        <a:lnSpc>
                          <a:spcPct val="82000"/>
                        </a:lnSpc>
                        <a:spcBef>
                          <a:spcPts val="0"/>
                        </a:spcBef>
                      </a:pPr>
                      <a:r>
                        <a:rPr sz="29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Directory</a:t>
                      </a:r>
                      <a:endParaRPr sz="2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52855" algn="l" rtl="0" eaLnBrk="0">
                        <a:lnSpc>
                          <a:spcPct val="118000"/>
                        </a:lnSpc>
                        <a:spcBef>
                          <a:spcPts val="1135"/>
                        </a:spcBef>
                      </a:pPr>
                      <a:r>
                        <a:rPr lang="en-US" altLang="zh-CN"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global_</a:t>
                      </a:r>
                      <a:r>
                        <a:rPr lang="en-US" altLang="zh-CN" sz="2400" kern="0" spc="-5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en-US" altLang="zh-CN"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depth</a:t>
                      </a:r>
                      <a:r>
                        <a:rPr sz="2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=2</a:t>
                      </a:r>
                      <a:endParaRPr sz="2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24405" algn="l" rtl="0" eaLnBrk="0">
                        <a:lnSpc>
                          <a:spcPct val="78000"/>
                        </a:lnSpc>
                        <a:spcBef>
                          <a:spcPts val="760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00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24405" algn="l" rtl="0" eaLnBrk="0">
                        <a:lnSpc>
                          <a:spcPct val="78000"/>
                        </a:lnSpc>
                        <a:spcBef>
                          <a:spcPts val="760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01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13305" algn="l" rtl="0" eaLnBrk="0">
                        <a:lnSpc>
                          <a:spcPct val="78000"/>
                        </a:lnSpc>
                        <a:spcBef>
                          <a:spcPts val="750"/>
                        </a:spcBef>
                      </a:pPr>
                      <a:r>
                        <a:rPr sz="2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10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13305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2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11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6640" algn="l" rtl="0" eaLnBrk="0">
                        <a:lnSpc>
                          <a:spcPct val="78000"/>
                        </a:lnSpc>
                      </a:pPr>
                      <a:r>
                        <a:rPr sz="2900" b="1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Bucket</a:t>
                      </a:r>
                      <a:r>
                        <a:rPr sz="29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900" b="1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endParaRPr sz="2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12140" algn="l" rtl="0" eaLnBrk="0">
                        <a:lnSpc>
                          <a:spcPct val="119000"/>
                        </a:lnSpc>
                        <a:spcBef>
                          <a:spcPts val="10"/>
                        </a:spcBef>
                      </a:pPr>
                      <a:r>
                        <a:rPr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local</a:t>
                      </a:r>
                      <a:r>
                        <a:rPr sz="2500" u="dotted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500" kern="0" spc="-6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depth</a:t>
                      </a:r>
                      <a:r>
                        <a:rPr sz="2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=2</a:t>
                      </a:r>
                      <a:endParaRPr sz="2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8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65225" algn="l" rtl="0" eaLnBrk="0">
                        <a:lnSpc>
                          <a:spcPct val="80000"/>
                        </a:lnSpc>
                        <a:spcBef>
                          <a:spcPts val="755"/>
                        </a:spcBef>
                      </a:pPr>
                      <a:r>
                        <a:rPr lang="en-US"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&lt;</a:t>
                      </a:r>
                      <a:r>
                        <a:rPr sz="25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key</a:t>
                      </a:r>
                      <a:r>
                        <a:rPr sz="2500" kern="0" spc="1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25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val</a:t>
                      </a:r>
                      <a:r>
                        <a:rPr lang="en-US"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&gt;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6640" algn="l" rtl="0" eaLnBrk="0">
                        <a:lnSpc>
                          <a:spcPts val="2175"/>
                        </a:lnSpc>
                        <a:spcBef>
                          <a:spcPts val="870"/>
                        </a:spcBef>
                      </a:pPr>
                      <a:r>
                        <a:rPr sz="29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Bucket</a:t>
                      </a:r>
                      <a:r>
                        <a:rPr sz="2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9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endParaRPr sz="2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1825" algn="l" rtl="0" eaLnBrk="0">
                        <a:lnSpc>
                          <a:spcPts val="4020"/>
                        </a:lnSpc>
                      </a:pPr>
                      <a:r>
                        <a:rPr sz="2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local  depth=2</a:t>
                      </a:r>
                      <a:endParaRPr sz="2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31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564505" algn="l" rtl="0" eaLnBrk="0">
                        <a:lnSpc>
                          <a:spcPts val="3200"/>
                        </a:lnSpc>
                      </a:pPr>
                      <a:r>
                        <a:rPr lang="en-US"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&lt;</a:t>
                      </a:r>
                      <a:r>
                        <a:rPr sz="20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key</a:t>
                      </a:r>
                      <a:r>
                        <a:rPr sz="2000" kern="0" spc="9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,</a:t>
                      </a:r>
                      <a:r>
                        <a:rPr sz="20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</a:t>
                      </a:r>
                      <a:r>
                        <a:rPr lang="en-US"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&gt;</a:t>
                      </a:r>
                    </a:p>
                    <a:p>
                      <a:pPr marL="5564505" algn="l" rtl="0" eaLnBrk="0">
                        <a:lnSpc>
                          <a:spcPts val="3200"/>
                        </a:lnSpc>
                      </a:pPr>
                      <a:r>
                        <a:rPr lang="en-US"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&lt;</a:t>
                      </a:r>
                      <a:r>
                        <a:rPr sz="2800" kern="0" spc="-3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key,val</a:t>
                      </a:r>
                      <a:r>
                        <a:rPr lang="en-US"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&gt;</a:t>
                      </a:r>
                      <a:endParaRPr sz="28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" name="textbox 64"/>
          <p:cNvSpPr/>
          <p:nvPr/>
        </p:nvSpPr>
        <p:spPr>
          <a:xfrm>
            <a:off x="1886117" y="2994170"/>
            <a:ext cx="17668239" cy="1572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8800" b="1" kern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原理与实现：插入与分裂机制</a:t>
            </a:r>
          </a:p>
        </p:txBody>
      </p:sp>
      <p:sp>
        <p:nvSpPr>
          <p:cNvPr id="66" name="textbox 66"/>
          <p:cNvSpPr/>
          <p:nvPr/>
        </p:nvSpPr>
        <p:spPr>
          <a:xfrm>
            <a:off x="30949732" y="5065712"/>
            <a:ext cx="2029460" cy="3706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8150" algn="l" rtl="0" eaLnBrk="0">
              <a:lnSpc>
                <a:spcPct val="79000"/>
              </a:lnSpc>
            </a:pPr>
            <a:r>
              <a:rPr sz="2900" b="1" kern="0" spc="-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Bucket</a:t>
            </a:r>
            <a:r>
              <a:rPr sz="2900" b="1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900" b="1" kern="0" spc="-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endParaRPr sz="2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9000"/>
              </a:lnSpc>
              <a:spcBef>
                <a:spcPts val="10"/>
              </a:spcBef>
            </a:pP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local</a:t>
            </a:r>
            <a:r>
              <a:rPr sz="2500" u="dotted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500" kern="0" spc="-6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depth</a:t>
            </a: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=1</a:t>
            </a:r>
            <a:endParaRPr sz="2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8150" algn="l" rtl="0" eaLnBrk="0">
              <a:lnSpc>
                <a:spcPts val="3235"/>
              </a:lnSpc>
              <a:spcBef>
                <a:spcPts val="760"/>
              </a:spcBef>
            </a:pPr>
            <a:r>
              <a:rPr lang="en-US" sz="2500" b="1" kern="0" spc="-1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&lt;</a:t>
            </a:r>
            <a:r>
              <a:rPr lang="en-US" sz="2500" b="1" kern="0" spc="-12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sz="2500" b="1" kern="0" spc="-12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ey,val</a:t>
            </a:r>
            <a:r>
              <a:rPr lang="en-US" sz="2500" b="1" kern="0" spc="-1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</a:t>
            </a:r>
            <a:endParaRPr sz="25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8150" algn="l" rtl="0" eaLnBrk="0">
              <a:lnSpc>
                <a:spcPts val="3710"/>
              </a:lnSpc>
              <a:spcBef>
                <a:spcPts val="875"/>
              </a:spcBef>
            </a:pPr>
            <a:r>
              <a:rPr lang="en-US" sz="2900" i="1" kern="0" spc="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</a:t>
            </a:r>
            <a:r>
              <a:rPr sz="2900" i="1" kern="0" spc="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key</a:t>
            </a:r>
            <a:r>
              <a:rPr sz="2900" i="1" kern="0" spc="14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2900" i="1" kern="0" spc="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val</a:t>
            </a:r>
            <a:r>
              <a:rPr lang="en-US" sz="2900" i="1" kern="0" spc="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&gt;</a:t>
            </a:r>
            <a:endParaRPr sz="2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438150" algn="l" rtl="0" eaLnBrk="0">
              <a:lnSpc>
                <a:spcPts val="4765"/>
              </a:lnSpc>
            </a:pP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&lt;key,val&gt;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8150" algn="l" rtl="0" eaLnBrk="0">
              <a:lnSpc>
                <a:spcPts val="3920"/>
              </a:lnSpc>
              <a:spcBef>
                <a:spcPts val="730"/>
              </a:spcBef>
            </a:pPr>
            <a:r>
              <a:rPr sz="2900" i="1" kern="0" spc="0" dirty="0" err="1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akey</a:t>
            </a:r>
            <a:r>
              <a:rPr sz="2900" i="1" kern="0" spc="80" dirty="0" err="1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2900" i="1" kern="0" spc="0" dirty="0" err="1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va</a:t>
            </a:r>
            <a:r>
              <a:rPr lang="en-US" altLang="zh-CN" sz="2900" i="1" kern="0" spc="0" dirty="0" err="1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endParaRPr sz="2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20282186" y="18018269"/>
            <a:ext cx="12331065" cy="614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600" b="1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sz="3600" kern="0" spc="-8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600" b="1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分裂与重分配</a:t>
            </a:r>
            <a:r>
              <a:rPr sz="36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</a:t>
            </a:r>
            <a:r>
              <a:rPr sz="4000" b="1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</a:t>
            </a:r>
            <a:r>
              <a:rPr sz="4000" b="1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更新目</a:t>
            </a:r>
            <a:r>
              <a:rPr sz="4000" b="1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录指针</a:t>
            </a:r>
            <a:endParaRPr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33121627" y="7699203"/>
            <a:ext cx="1377950" cy="1136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9900" algn="l" rtl="0" eaLnBrk="0">
              <a:lnSpc>
                <a:spcPts val="3280"/>
              </a:lnSpc>
            </a:pP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!</a:t>
            </a:r>
            <a:endParaRPr sz="2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0000"/>
              </a:lnSpc>
            </a:pPr>
            <a:endParaRPr sz="1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900" kern="0" spc="120" dirty="0">
                <a:solidFill>
                  <a:srgbClr val="205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桶</a:t>
            </a:r>
            <a:r>
              <a:rPr lang="zh-CN" altLang="en-US" sz="2900" kern="0" spc="120" dirty="0">
                <a:solidFill>
                  <a:srgbClr val="205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已</a:t>
            </a:r>
            <a:r>
              <a:rPr sz="2900" kern="0" spc="120" dirty="0">
                <a:solidFill>
                  <a:srgbClr val="205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满!</a:t>
            </a:r>
            <a:endParaRPr sz="2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sp>
        <p:nvSpPr>
          <p:cNvPr id="15" name="文本框 36"/>
          <p:cNvSpPr txBox="1"/>
          <p:nvPr/>
        </p:nvSpPr>
        <p:spPr>
          <a:xfrm>
            <a:off x="17292714" y="784019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5400" b="1" dirty="0"/>
              <a:t>LRU_K</a:t>
            </a:r>
            <a:r>
              <a:rPr lang="zh-CN" altLang="en-US" sz="5400" b="1" dirty="0"/>
              <a:t>置换</a:t>
            </a:r>
            <a:endParaRPr lang="en-US" sz="5400" b="1" dirty="0"/>
          </a:p>
        </p:txBody>
      </p:sp>
      <p:cxnSp>
        <p:nvCxnSpPr>
          <p:cNvPr id="16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17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8" y="511896"/>
            <a:ext cx="5647573" cy="1554597"/>
          </a:xfrm>
          <a:prstGeom prst="rect">
            <a:avLst/>
          </a:prstGeom>
        </p:spPr>
      </p:pic>
      <p:pic>
        <p:nvPicPr>
          <p:cNvPr id="18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8977" y="-98115"/>
            <a:ext cx="5559481" cy="2449022"/>
          </a:xfrm>
          <a:prstGeom prst="rect">
            <a:avLst/>
          </a:prstGeom>
        </p:spPr>
      </p:pic>
      <p:sp>
        <p:nvSpPr>
          <p:cNvPr id="19" name="文本框 35"/>
          <p:cNvSpPr txBox="1"/>
          <p:nvPr/>
        </p:nvSpPr>
        <p:spPr>
          <a:xfrm>
            <a:off x="16288964" y="1739858"/>
            <a:ext cx="2476388" cy="1222099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endParaRPr dirty="0"/>
          </a:p>
        </p:txBody>
      </p:sp>
      <p:sp>
        <p:nvSpPr>
          <p:cNvPr id="20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实验一</a:t>
            </a:r>
            <a:endParaRPr sz="7110" b="1" dirty="0"/>
          </a:p>
        </p:txBody>
      </p:sp>
      <p:sp>
        <p:nvSpPr>
          <p:cNvPr id="21" name="文本框 36"/>
          <p:cNvSpPr txBox="1"/>
          <p:nvPr/>
        </p:nvSpPr>
        <p:spPr>
          <a:xfrm>
            <a:off x="22840641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缓冲池管理</a:t>
            </a:r>
            <a:endParaRPr lang="en-US" sz="5400" b="1" dirty="0"/>
          </a:p>
        </p:txBody>
      </p:sp>
      <p:cxnSp>
        <p:nvCxnSpPr>
          <p:cNvPr id="22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23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可扩展哈希</a:t>
            </a:r>
            <a:endParaRPr sz="5400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6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 74"/>
          <p:cNvSpPr/>
          <p:nvPr/>
        </p:nvSpPr>
        <p:spPr>
          <a:xfrm>
            <a:off x="0" y="0"/>
            <a:ext cx="36404550" cy="20320000"/>
          </a:xfrm>
          <a:prstGeom prst="rect">
            <a:avLst/>
          </a:prstGeom>
          <a:solidFill>
            <a:srgbClr val="F9F6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2152996" y="5087377"/>
            <a:ext cx="14750414" cy="11722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5400" b="1" kern="0" spc="-2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1.</a:t>
            </a:r>
            <a:r>
              <a:rPr sz="5400" b="1" kern="0" spc="-2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目的</a:t>
            </a: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000" kern="0" spc="2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当缓冲池已满且需要一个空闲帧时，替换器</a:t>
            </a:r>
            <a:r>
              <a:rPr sz="5000" kern="0" spc="2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必须选</a:t>
            </a:r>
            <a:r>
              <a:rPr sz="5000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择一个“受害者”页面进行驱逐</a:t>
            </a:r>
            <a:r>
              <a:rPr sz="50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sz="5400" b="1" kern="0" spc="-20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2.</a:t>
            </a:r>
            <a:r>
              <a:rPr sz="5400" b="1" kern="0" spc="-20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为何选择LRU</a:t>
            </a:r>
            <a:r>
              <a:rPr sz="5400" b="1" kern="0" spc="-2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-K</a:t>
            </a:r>
            <a:endParaRPr sz="5400" b="1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402715" indent="-68580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5000" kern="0" spc="2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简单LRU策略在面对大规模扫描操作时很脆弱，可能将真正频繁使用的热点数据错误地淘汰。</a:t>
            </a:r>
          </a:p>
          <a:p>
            <a:pPr marL="1402715" indent="-68580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5000" kern="0" spc="2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LRU-K通过追踪页面的最后K次访问历史，能更准确  地判断页面的“热度”，从而做出更明智的决策。</a:t>
            </a:r>
          </a:p>
          <a:p>
            <a:pPr indent="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sz="5400" b="1" kern="0" spc="-14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3.</a:t>
            </a:r>
            <a:r>
              <a:rPr sz="5400" b="1" kern="0" spc="-14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核心思想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402715" indent="-68580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5000" kern="0" spc="2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淘汰具有最大“后向K距离”(当前时间戳与第K次</a:t>
            </a:r>
          </a:p>
          <a:p>
            <a:pPr marL="1402715" indent="-68580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5000" kern="0" spc="2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访问时间截之差)的帧。</a:t>
            </a: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233979" y="7188200"/>
            <a:ext cx="14897106" cy="4654498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548481" y="13004800"/>
            <a:ext cx="15589155" cy="5657900"/>
          </a:xfrm>
          <a:prstGeom prst="rect">
            <a:avLst/>
          </a:prstGeom>
        </p:spPr>
      </p:pic>
      <p:sp>
        <p:nvSpPr>
          <p:cNvPr id="82" name="textbox 82"/>
          <p:cNvSpPr/>
          <p:nvPr/>
        </p:nvSpPr>
        <p:spPr>
          <a:xfrm>
            <a:off x="22180590" y="7465649"/>
            <a:ext cx="11157584" cy="11095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1000"/>
              </a:lnSpc>
            </a:pPr>
            <a:r>
              <a:rPr sz="5300" kern="0" spc="-1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     </a:t>
            </a:r>
            <a:r>
              <a:rPr sz="6500" kern="0" spc="-1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6500" kern="0" spc="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6500" kern="0" spc="-1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6500" kern="0" spc="1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6500" kern="0" spc="-1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   </a:t>
            </a:r>
            <a:r>
              <a:rPr sz="3900" b="1" kern="0" spc="-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S1     </a:t>
            </a:r>
            <a:r>
              <a:rPr sz="3900" b="1" kern="0" spc="-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S2      </a:t>
            </a:r>
            <a:r>
              <a:rPr sz="5300" b="1" kern="0" spc="-130" baseline="10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S3</a:t>
            </a:r>
            <a:r>
              <a:rPr sz="3400" b="1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4800" b="1" kern="0" spc="-130" baseline="1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S4</a:t>
            </a:r>
            <a:r>
              <a:rPr sz="3000" b="1" kern="0" spc="-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</a:t>
            </a:r>
            <a:r>
              <a:rPr sz="4800" kern="0" spc="-130" baseline="1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S5.</a:t>
            </a:r>
            <a:r>
              <a:rPr sz="3000" kern="0" spc="-3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4800" kern="0" spc="-130" baseline="1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…</a:t>
            </a:r>
            <a:endParaRPr sz="4800" baseline="11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42565" algn="l" rtl="0" eaLnBrk="0">
              <a:lnSpc>
                <a:spcPct val="89000"/>
              </a:lnSpc>
              <a:spcBef>
                <a:spcPts val="1780"/>
              </a:spcBef>
            </a:pPr>
            <a:r>
              <a:rPr sz="5900" kern="0" spc="-1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r>
              <a:rPr sz="5900" kern="0" spc="1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5900" kern="0" spc="-1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    </a:t>
            </a:r>
            <a:r>
              <a:rPr sz="6700" kern="0" spc="-180" baseline="-6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S5</a:t>
            </a:r>
            <a:r>
              <a:rPr sz="4300" kern="0" spc="2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3800" b="1" kern="0" spc="-1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S4</a:t>
            </a:r>
            <a:r>
              <a:rPr sz="3800" b="1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6700" kern="0" spc="-180" baseline="5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S3</a:t>
            </a:r>
            <a:r>
              <a:rPr sz="4300" kern="0" spc="2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4300" b="1" kern="0" spc="-1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S2</a:t>
            </a:r>
            <a:r>
              <a:rPr sz="4300" kern="0" spc="-1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4300" kern="0" spc="-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S1</a:t>
            </a:r>
            <a:endParaRPr sz="4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1085"/>
              </a:spcBef>
            </a:pPr>
            <a:r>
              <a:rPr sz="3600" b="1" kern="0" spc="0" dirty="0" err="1">
                <a:solidFill>
                  <a:srgbClr val="904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热点</a:t>
            </a:r>
            <a:r>
              <a:rPr sz="3600" b="1" kern="0" spc="0" dirty="0" err="1">
                <a:solidFill>
                  <a:srgbClr val="9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数据被错误</a:t>
            </a:r>
            <a:r>
              <a:rPr lang="zh-CN" altLang="en-US" sz="3600" b="1" kern="0" spc="0" dirty="0">
                <a:solidFill>
                  <a:srgbClr val="9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淘</a:t>
            </a:r>
            <a:r>
              <a:rPr sz="3600" b="1" kern="0" spc="0" dirty="0">
                <a:solidFill>
                  <a:srgbClr val="9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汰</a:t>
            </a:r>
            <a:endParaRPr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94000"/>
              </a:lnSpc>
              <a:spcBef>
                <a:spcPts val="1440"/>
              </a:spcBef>
            </a:pPr>
            <a:r>
              <a:rPr sz="48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(K=3)</a:t>
            </a:r>
            <a:r>
              <a:rPr sz="4800" kern="0" spc="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        </a:t>
            </a:r>
            <a:r>
              <a:rPr sz="3600" b="1" kern="0" spc="-70" dirty="0">
                <a:solidFill>
                  <a:srgbClr val="205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K-</a:t>
            </a:r>
            <a:r>
              <a:rPr sz="3600" b="1" kern="0" spc="-70" dirty="0">
                <a:solidFill>
                  <a:srgbClr val="205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历史窗口</a:t>
            </a:r>
            <a:r>
              <a:rPr sz="3600" kern="0" spc="-470" dirty="0">
                <a:solidFill>
                  <a:srgbClr val="205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600" b="1" kern="0" spc="-70" dirty="0">
                <a:solidFill>
                  <a:srgbClr val="205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(K</a:t>
            </a:r>
            <a:r>
              <a:rPr sz="3600" b="1" kern="0" spc="-80" dirty="0">
                <a:solidFill>
                  <a:srgbClr val="205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=3)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4000"/>
              </a:lnSpc>
              <a:spcBef>
                <a:spcPts val="1960"/>
              </a:spcBef>
            </a:pPr>
            <a:r>
              <a:rPr sz="5400" kern="0" spc="-1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     </a:t>
            </a:r>
            <a:r>
              <a:rPr sz="6500" kern="0" spc="-1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6500" kern="0" spc="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5700" kern="0" spc="-130" baseline="14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r>
              <a:rPr sz="3600" kern="0" spc="-1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</a:t>
            </a:r>
            <a:r>
              <a:rPr sz="5400" kern="0" spc="-1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5400" kern="0" spc="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4400" b="1" kern="0" spc="-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S1     S2</a:t>
            </a:r>
            <a:r>
              <a:rPr sz="4400" b="1" kern="0" spc="2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4200" b="1" kern="0" spc="-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S3      </a:t>
            </a:r>
            <a:r>
              <a:rPr sz="3700" b="1" kern="0" spc="-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S4  -S5.</a:t>
            </a:r>
            <a:r>
              <a:rPr sz="3700" b="1" kern="0" spc="-6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700" b="1" kern="0" spc="-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…</a:t>
            </a:r>
            <a:endParaRPr sz="3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40815" algn="l" rtl="0" eaLnBrk="0">
              <a:lnSpc>
                <a:spcPct val="93000"/>
              </a:lnSpc>
              <a:spcBef>
                <a:spcPts val="1660"/>
              </a:spcBef>
            </a:pPr>
            <a:r>
              <a:rPr sz="5500" kern="0" spc="-1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5500" kern="0" spc="3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5500" kern="0" spc="-1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     C</a:t>
            </a:r>
            <a:r>
              <a:rPr sz="5500" kern="0" spc="4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4300" b="1" kern="0" spc="-1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S1</a:t>
            </a:r>
            <a:r>
              <a:rPr sz="4300" b="1" kern="0" spc="2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4300" b="1" kern="0" spc="-1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S2</a:t>
            </a:r>
            <a:r>
              <a:rPr sz="43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</a:t>
            </a:r>
            <a:r>
              <a:rPr sz="4000" b="1" kern="0" spc="-1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S3</a:t>
            </a:r>
            <a:endParaRPr sz="4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180465" algn="l" rtl="0" eaLnBrk="0">
              <a:lnSpc>
                <a:spcPct val="95000"/>
              </a:lnSpc>
              <a:spcBef>
                <a:spcPts val="1525"/>
              </a:spcBef>
            </a:pPr>
            <a:r>
              <a:rPr sz="36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安全</a:t>
            </a:r>
            <a:endParaRPr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021715" algn="l" rtl="0" eaLnBrk="0">
              <a:lnSpc>
                <a:spcPts val="4365"/>
              </a:lnSpc>
            </a:pPr>
            <a:r>
              <a:rPr sz="5500" kern="0" spc="20" baseline="-1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5500" kern="0" spc="0" baseline="-1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Safe</a:t>
            </a:r>
            <a:r>
              <a:rPr sz="5500" kern="0" spc="20" baseline="-1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   </a:t>
            </a:r>
            <a:r>
              <a:rPr sz="5500" b="1" kern="0" spc="20" baseline="8000" dirty="0">
                <a:solidFill>
                  <a:srgbClr val="2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热点数据被保护</a:t>
            </a:r>
            <a:endParaRPr sz="5500" baseline="8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2163576" y="2590618"/>
            <a:ext cx="16384905" cy="2496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845" algn="l" rtl="0" eaLnBrk="0">
              <a:lnSpc>
                <a:spcPct val="96000"/>
              </a:lnSpc>
              <a:spcBef>
                <a:spcPts val="0"/>
              </a:spcBef>
            </a:pPr>
            <a:r>
              <a:rPr sz="8800" b="1" kern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核心组件二：</a:t>
            </a:r>
            <a:r>
              <a:rPr sz="88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LRU</a:t>
            </a:r>
            <a:r>
              <a:rPr sz="8800" b="1" kern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-K 替换策略</a:t>
            </a:r>
          </a:p>
          <a:p>
            <a:pPr algn="l" rtl="0" eaLnBrk="0">
              <a:lnSpc>
                <a:spcPct val="100000"/>
              </a:lnSpc>
            </a:pP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</a:pPr>
            <a:r>
              <a:rPr sz="5400" kern="0" spc="2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智能地决定“牺牲”哪个页面</a:t>
            </a:r>
          </a:p>
        </p:txBody>
      </p:sp>
      <p:sp>
        <p:nvSpPr>
          <p:cNvPr id="86" name="textbox 86"/>
          <p:cNvSpPr/>
          <p:nvPr/>
        </p:nvSpPr>
        <p:spPr>
          <a:xfrm>
            <a:off x="18662470" y="7500695"/>
            <a:ext cx="3953689" cy="9608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93950" algn="l" rtl="0" eaLnBrk="0">
              <a:lnSpc>
                <a:spcPct val="81000"/>
              </a:lnSpc>
            </a:pPr>
            <a:r>
              <a:rPr sz="70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7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41350" algn="l" rtl="0" eaLnBrk="0">
              <a:lnSpc>
                <a:spcPct val="96000"/>
              </a:lnSpc>
              <a:spcBef>
                <a:spcPts val="1090"/>
              </a:spcBef>
            </a:pPr>
            <a:r>
              <a:rPr sz="36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LRU</a:t>
            </a:r>
            <a:r>
              <a:rPr sz="3600" kern="0" spc="-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6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队列</a:t>
            </a:r>
            <a:endParaRPr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6000"/>
              </a:lnSpc>
              <a:spcBef>
                <a:spcPts val="405"/>
              </a:spcBef>
            </a:pP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sz="3600" kern="0" spc="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最近</a:t>
            </a:r>
            <a:r>
              <a:rPr lang="zh-CN" altLang="en-US" sz="3600" kern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</a:t>
            </a:r>
            <a:r>
              <a:rPr sz="3600" kern="0" spc="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少使用</a:t>
            </a:r>
            <a:r>
              <a:rPr sz="36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ct val="96000"/>
              </a:lnSpc>
              <a:spcBef>
                <a:spcPts val="1450"/>
              </a:spcBef>
            </a:pPr>
            <a:r>
              <a:rPr sz="48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LRU</a:t>
            </a:r>
            <a:r>
              <a:rPr sz="48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-</a:t>
            </a:r>
            <a:r>
              <a:rPr sz="4800" b="1" kern="0" spc="2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K</a:t>
            </a:r>
            <a:r>
              <a:rPr sz="4800" b="1" kern="0" spc="2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策略</a:t>
            </a:r>
            <a:endParaRPr sz="4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0300" algn="l" rtl="0" eaLnBrk="0">
              <a:lnSpc>
                <a:spcPct val="81000"/>
              </a:lnSpc>
              <a:spcBef>
                <a:spcPts val="1840"/>
              </a:spcBef>
            </a:pPr>
            <a:endParaRPr lang="en-US" sz="1000" dirty="0"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  <a:p>
            <a:pPr marL="2400300" algn="l" rtl="0" eaLnBrk="0">
              <a:lnSpc>
                <a:spcPct val="81000"/>
              </a:lnSpc>
              <a:spcBef>
                <a:spcPts val="1840"/>
              </a:spcBef>
            </a:pPr>
            <a:endParaRPr lang="en-US" sz="1000" b="1" kern="0" spc="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  <a:p>
            <a:pPr marL="2400300" algn="l" rtl="0" eaLnBrk="0">
              <a:lnSpc>
                <a:spcPct val="81000"/>
              </a:lnSpc>
              <a:spcBef>
                <a:spcPts val="1840"/>
              </a:spcBef>
            </a:pPr>
            <a:endParaRPr lang="en-US" sz="1000" b="1" kern="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  <a:p>
            <a:pPr marL="2400300" algn="l" rtl="0" eaLnBrk="0">
              <a:lnSpc>
                <a:spcPct val="81000"/>
              </a:lnSpc>
              <a:spcBef>
                <a:spcPts val="1840"/>
              </a:spcBef>
            </a:pPr>
            <a:endParaRPr lang="en-US" sz="1000" b="1" kern="0" spc="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  <a:p>
            <a:pPr marL="2400300" algn="l" rtl="0" eaLnBrk="0">
              <a:lnSpc>
                <a:spcPct val="81000"/>
              </a:lnSpc>
              <a:spcBef>
                <a:spcPts val="1840"/>
              </a:spcBef>
            </a:pPr>
            <a:endParaRPr lang="en-US" sz="1000" b="1" kern="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  <a:p>
            <a:pPr marL="2400300" algn="l" rtl="0" eaLnBrk="0">
              <a:lnSpc>
                <a:spcPct val="81000"/>
              </a:lnSpc>
              <a:spcBef>
                <a:spcPts val="1840"/>
              </a:spcBef>
            </a:pPr>
            <a:endParaRPr lang="en-US" sz="1000" b="1" kern="0" spc="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  <a:p>
            <a:pPr marL="2400300" algn="l" rtl="0" eaLnBrk="0">
              <a:lnSpc>
                <a:spcPct val="81000"/>
              </a:lnSpc>
              <a:spcBef>
                <a:spcPts val="1840"/>
              </a:spcBef>
            </a:pPr>
            <a:r>
              <a:rPr sz="4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LRU</a:t>
            </a:r>
            <a:r>
              <a:rPr sz="44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-K</a:t>
            </a:r>
            <a:r>
              <a:rPr sz="4400" kern="0" spc="3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400" b="1" kern="0" spc="3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评估</a:t>
            </a:r>
            <a:endParaRPr sz="4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18671189" y="5087438"/>
            <a:ext cx="11950700" cy="1913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</a:pPr>
            <a:r>
              <a:rPr sz="4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LRU</a:t>
            </a:r>
            <a:r>
              <a:rPr sz="4800" b="1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4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vs</a:t>
            </a:r>
            <a:r>
              <a:rPr sz="4800" b="1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lang="en-US" sz="4800" b="1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4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LRU</a:t>
            </a:r>
            <a:r>
              <a:rPr sz="4800" b="1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-K</a:t>
            </a:r>
            <a:r>
              <a:rPr sz="4800" b="1" kern="0" spc="-5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4800" b="1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替换策略对比</a:t>
            </a:r>
            <a:endParaRPr sz="4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9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</a:pPr>
            <a:r>
              <a:rPr sz="4800" b="1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简单</a:t>
            </a:r>
            <a:r>
              <a:rPr sz="4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LRU</a:t>
            </a:r>
            <a:r>
              <a:rPr sz="4800" b="1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800" b="1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策略</a:t>
            </a:r>
            <a:endParaRPr sz="4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5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6" name="图片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08" y="511896"/>
            <a:ext cx="5647573" cy="1554597"/>
          </a:xfrm>
          <a:prstGeom prst="rect">
            <a:avLst/>
          </a:prstGeom>
        </p:spPr>
      </p:pic>
      <p:pic>
        <p:nvPicPr>
          <p:cNvPr id="7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8964" y="-96583"/>
            <a:ext cx="5659120" cy="2449022"/>
          </a:xfrm>
          <a:prstGeom prst="rect">
            <a:avLst/>
          </a:prstGeom>
        </p:spPr>
      </p:pic>
      <p:sp>
        <p:nvSpPr>
          <p:cNvPr id="8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实验一</a:t>
            </a:r>
            <a:endParaRPr sz="7110" b="1" dirty="0"/>
          </a:p>
        </p:txBody>
      </p:sp>
      <p:sp>
        <p:nvSpPr>
          <p:cNvPr id="9" name="文本框 36"/>
          <p:cNvSpPr txBox="1"/>
          <p:nvPr/>
        </p:nvSpPr>
        <p:spPr>
          <a:xfrm>
            <a:off x="22840641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缓冲池管理</a:t>
            </a:r>
            <a:endParaRPr lang="en-US" sz="5400" b="1" dirty="0"/>
          </a:p>
        </p:txBody>
      </p:sp>
      <p:cxnSp>
        <p:nvCxnSpPr>
          <p:cNvPr id="10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11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可扩展哈希</a:t>
            </a:r>
            <a:endParaRPr sz="5400" dirty="0"/>
          </a:p>
        </p:txBody>
      </p:sp>
      <p:sp>
        <p:nvSpPr>
          <p:cNvPr id="4" name="文本框 36"/>
          <p:cNvSpPr txBox="1"/>
          <p:nvPr/>
        </p:nvSpPr>
        <p:spPr>
          <a:xfrm>
            <a:off x="17292714" y="784019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LRU_K</a:t>
            </a:r>
            <a:r>
              <a:rPr lang="zh-CN" altLang="en-US" sz="5400" b="1" dirty="0">
                <a:solidFill>
                  <a:schemeClr val="bg1"/>
                </a:solidFill>
              </a:rPr>
              <a:t>置换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7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6404550" cy="20320000"/>
          </a:xfrm>
          <a:prstGeom prst="rect">
            <a:avLst/>
          </a:prstGeom>
        </p:spPr>
      </p:pic>
      <p:sp>
        <p:nvSpPr>
          <p:cNvPr id="94" name="textbox 94"/>
          <p:cNvSpPr/>
          <p:nvPr/>
        </p:nvSpPr>
        <p:spPr>
          <a:xfrm>
            <a:off x="1805812" y="2651586"/>
            <a:ext cx="29519246" cy="327915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ct val="96000"/>
              </a:lnSpc>
            </a:pPr>
            <a:r>
              <a:rPr sz="8800" b="1" kern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原理与实现：历史列表与缓存列表</a:t>
            </a: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1830"/>
              </a:spcBef>
            </a:pPr>
            <a:r>
              <a:rPr sz="54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为了高效实现LRU-K,</a:t>
            </a:r>
            <a:r>
              <a:rPr sz="5400" kern="0" spc="4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</a:t>
            </a:r>
            <a:r>
              <a:rPr sz="54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我们将可驱逐的帧分为两类进行管</a:t>
            </a:r>
            <a:r>
              <a:rPr sz="54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理：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 rtl="0" eaLnBrk="0">
              <a:lnSpc>
                <a:spcPct val="102000"/>
              </a:lnSpc>
            </a:pP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 rtl="0" eaLnBrk="0">
              <a:lnSpc>
                <a:spcPct val="102000"/>
              </a:lnSpc>
            </a:pP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 rtl="0" eaLnBrk="0">
              <a:lnSpc>
                <a:spcPct val="102000"/>
              </a:lnSpc>
            </a:pP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3162491" y="11824315"/>
            <a:ext cx="12342494" cy="4172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97000"/>
              </a:lnSpc>
            </a:pP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对象：</a:t>
            </a:r>
            <a:r>
              <a:rPr sz="53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访问次数小于</a:t>
            </a:r>
            <a:r>
              <a:rPr sz="5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sz="5300" kern="0" spc="-8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3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次的帧。</a:t>
            </a:r>
            <a:endParaRPr sz="5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85000"/>
              </a:lnSpc>
              <a:spcBef>
                <a:spcPts val="1600"/>
              </a:spcBef>
            </a:pPr>
            <a:r>
              <a:rPr sz="53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驱逐逻辑：</a:t>
            </a:r>
            <a:r>
              <a:rPr sz="53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采用标准</a:t>
            </a:r>
            <a:r>
              <a:rPr sz="5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LRU</a:t>
            </a:r>
            <a:r>
              <a:rPr sz="53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策略，淘汰最久</a:t>
            </a:r>
            <a:endParaRPr sz="5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33000"/>
              </a:lnSpc>
              <a:spcBef>
                <a:spcPts val="50"/>
              </a:spcBef>
            </a:pPr>
            <a:r>
              <a:rPr sz="5300"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未被访问的帧(</a:t>
            </a:r>
            <a:r>
              <a:rPr sz="5300" kern="0" spc="23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具有最早时间戳的帧</a:t>
            </a:r>
            <a:r>
              <a:rPr lang="en-US" sz="5300"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sz="5300"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r>
              <a:rPr sz="5300" kern="0" spc="23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</a:t>
            </a:r>
            <a:r>
              <a:rPr sz="5300" kern="0" spc="3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些帧的后向</a:t>
            </a:r>
            <a:r>
              <a:rPr sz="5300" kern="0" spc="3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r>
              <a:rPr sz="5300" kern="0" spc="3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距离被视为无穷大</a:t>
            </a:r>
            <a:r>
              <a:rPr sz="5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5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21670589" y="12564474"/>
            <a:ext cx="11948159" cy="3046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97000"/>
              </a:lnSpc>
            </a:pPr>
            <a:r>
              <a:rPr sz="53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对象：</a:t>
            </a:r>
            <a:r>
              <a:rPr sz="53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访问次数达到或超过</a:t>
            </a:r>
            <a:r>
              <a:rPr sz="53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sz="5300" kern="0" spc="-8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3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次的帧。</a:t>
            </a:r>
            <a:endParaRPr sz="5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85000"/>
              </a:lnSpc>
              <a:spcBef>
                <a:spcPts val="1590"/>
              </a:spcBef>
            </a:pPr>
            <a:r>
              <a:rPr sz="5300" b="1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驱逐逻辑：</a:t>
            </a:r>
            <a:r>
              <a:rPr sz="5300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根据“后向</a:t>
            </a:r>
            <a:r>
              <a:rPr sz="5300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sz="5300" kern="0" spc="-6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距离”进行淘汰，</a:t>
            </a:r>
            <a:endParaRPr sz="5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8200"/>
              </a:lnSpc>
            </a:pPr>
            <a:r>
              <a:rPr sz="53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即选择第</a:t>
            </a:r>
            <a:r>
              <a:rPr sz="53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sz="53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次访问时间戳最久远的帧。</a:t>
            </a:r>
            <a:endParaRPr sz="5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231401" y="9722178"/>
            <a:ext cx="21726144" cy="808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065375" algn="ctr" rtl="0" eaLnBrk="0">
              <a:lnSpc>
                <a:spcPct val="97000"/>
              </a:lnSpc>
              <a:spcBef>
                <a:spcPts val="1600"/>
              </a:spcBef>
            </a:pPr>
            <a:r>
              <a:rPr lang="zh-CN" altLang="en-US" sz="4800" b="1" kern="0" spc="360" dirty="0">
                <a:solidFill>
                  <a:srgbClr val="3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晋升</a:t>
            </a:r>
            <a:r>
              <a:rPr lang="zh-CN" altLang="en-US" sz="4800" b="1" kern="0" spc="-1260" dirty="0">
                <a:solidFill>
                  <a:srgbClr val="3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4800" b="1" kern="0" spc="360" dirty="0">
                <a:solidFill>
                  <a:srgbClr val="3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zh-CN" altLang="en-US" sz="4400" b="1" kern="0" spc="-12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</a:t>
            </a:r>
            <a:r>
              <a:rPr lang="zh-CN" altLang="en-US" sz="4400" kern="0" spc="-162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4400" b="1" kern="0" spc="-120" dirty="0">
                <a:solidFill>
                  <a:srgbClr val="20609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zh-CN" altLang="en-US" sz="4400" kern="0" spc="-1270" dirty="0">
                <a:solidFill>
                  <a:srgbClr val="20609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4400" b="1" kern="0" spc="-12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次访问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6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7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8" y="511896"/>
            <a:ext cx="5647573" cy="1554597"/>
          </a:xfrm>
          <a:prstGeom prst="rect">
            <a:avLst/>
          </a:prstGeom>
        </p:spPr>
      </p:pic>
      <p:pic>
        <p:nvPicPr>
          <p:cNvPr id="8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8964" y="-96583"/>
            <a:ext cx="5659120" cy="2449022"/>
          </a:xfrm>
          <a:prstGeom prst="rect">
            <a:avLst/>
          </a:prstGeom>
        </p:spPr>
      </p:pic>
      <p:sp>
        <p:nvSpPr>
          <p:cNvPr id="9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实验一</a:t>
            </a:r>
            <a:endParaRPr sz="7110" b="1" dirty="0"/>
          </a:p>
        </p:txBody>
      </p:sp>
      <p:sp>
        <p:nvSpPr>
          <p:cNvPr id="10" name="文本框 36"/>
          <p:cNvSpPr txBox="1"/>
          <p:nvPr/>
        </p:nvSpPr>
        <p:spPr>
          <a:xfrm>
            <a:off x="22840641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缓冲池管理</a:t>
            </a:r>
            <a:endParaRPr lang="en-US" sz="5400" b="1" dirty="0"/>
          </a:p>
        </p:txBody>
      </p:sp>
      <p:cxnSp>
        <p:nvCxnSpPr>
          <p:cNvPr id="11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12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可扩展哈希</a:t>
            </a:r>
            <a:endParaRPr sz="5400" dirty="0"/>
          </a:p>
        </p:txBody>
      </p:sp>
      <p:sp>
        <p:nvSpPr>
          <p:cNvPr id="13" name="文本框 36"/>
          <p:cNvSpPr txBox="1"/>
          <p:nvPr/>
        </p:nvSpPr>
        <p:spPr>
          <a:xfrm>
            <a:off x="17292714" y="784019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LRU_K</a:t>
            </a:r>
            <a:r>
              <a:rPr lang="zh-CN" altLang="en-US" sz="5400" b="1" dirty="0">
                <a:solidFill>
                  <a:schemeClr val="bg1"/>
                </a:solidFill>
              </a:rPr>
              <a:t>置换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79492" y="6520203"/>
            <a:ext cx="85084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历史列表</a:t>
            </a:r>
            <a:r>
              <a:rPr lang="zh-CN" altLang="en-US" sz="60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60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(History</a:t>
            </a:r>
            <a:r>
              <a:rPr lang="en-US" altLang="zh-CN" sz="6000" b="1" kern="0" spc="10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en-US" altLang="zh-CN" sz="60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List) </a:t>
            </a:r>
            <a:endParaRPr lang="zh-CN" altLang="en-US" sz="6000" dirty="0"/>
          </a:p>
        </p:txBody>
      </p:sp>
      <p:sp>
        <p:nvSpPr>
          <p:cNvPr id="17" name="文本框 16"/>
          <p:cNvSpPr txBox="1"/>
          <p:nvPr/>
        </p:nvSpPr>
        <p:spPr>
          <a:xfrm>
            <a:off x="23286464" y="6849247"/>
            <a:ext cx="8038594" cy="100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eaLnBrk="0">
              <a:lnSpc>
                <a:spcPct val="99000"/>
              </a:lnSpc>
              <a:spcBef>
                <a:spcPts val="1985"/>
              </a:spcBef>
            </a:pPr>
            <a:r>
              <a:rPr lang="zh-CN" altLang="en-US" sz="60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缓存列表</a:t>
            </a:r>
            <a:r>
              <a:rPr lang="zh-CN" altLang="en-US" sz="60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6000" b="1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(Cache</a:t>
            </a:r>
            <a:r>
              <a:rPr lang="en-US" altLang="zh-CN" sz="6000" b="1" kern="0" spc="5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en-US" altLang="zh-CN" sz="6000" b="1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List)</a:t>
            </a:r>
            <a:endParaRPr lang="en-US" altLang="zh-CN" sz="6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8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6404550" cy="20320000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9753548" y="4225238"/>
            <a:ext cx="15775939" cy="15403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9050" algn="l" rtl="0" eaLnBrk="0">
              <a:lnSpc>
                <a:spcPct val="98000"/>
              </a:lnSpc>
              <a:spcBef>
                <a:spcPts val="5"/>
              </a:spcBef>
            </a:pP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17806412" y="14445422"/>
            <a:ext cx="110743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  <a:spcBef>
                <a:spcPts val="0"/>
              </a:spcBef>
            </a:pPr>
            <a:r>
              <a:rPr sz="47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ctim</a:t>
            </a:r>
            <a:endParaRPr sz="4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17988312" y="14072841"/>
            <a:ext cx="1092200" cy="480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4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ach</a:t>
            </a:r>
            <a:endParaRPr sz="4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10" name="picture 1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462619" y="13942600"/>
            <a:ext cx="366216" cy="906163"/>
          </a:xfrm>
          <a:prstGeom prst="rect">
            <a:avLst/>
          </a:prstGeom>
        </p:spPr>
      </p:pic>
      <p:sp>
        <p:nvSpPr>
          <p:cNvPr id="112" name="textbox 112"/>
          <p:cNvSpPr/>
          <p:nvPr/>
        </p:nvSpPr>
        <p:spPr>
          <a:xfrm>
            <a:off x="13006027" y="14546978"/>
            <a:ext cx="341629" cy="444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300"/>
              </a:lnSpc>
            </a:pPr>
            <a:r>
              <a:rPr sz="4700" kern="0" spc="-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endParaRPr sz="4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13131223" y="14159431"/>
            <a:ext cx="292734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895"/>
              </a:lnSpc>
            </a:pPr>
            <a:r>
              <a:rPr sz="4000" kern="0" spc="-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endParaRPr sz="4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12526773" y="14159431"/>
            <a:ext cx="721359" cy="277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990"/>
              </a:lnSpc>
            </a:pPr>
            <a:r>
              <a:rPr sz="40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</a:t>
            </a:r>
            <a:endParaRPr sz="4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24" name="picture 1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005929" y="11648326"/>
            <a:ext cx="257998" cy="720774"/>
          </a:xfrm>
          <a:prstGeom prst="rect">
            <a:avLst/>
          </a:prstGeom>
        </p:spPr>
      </p:pic>
      <p:sp>
        <p:nvSpPr>
          <p:cNvPr id="126" name="textbox 126"/>
          <p:cNvSpPr/>
          <p:nvPr/>
        </p:nvSpPr>
        <p:spPr>
          <a:xfrm>
            <a:off x="14611553" y="12040598"/>
            <a:ext cx="303529" cy="480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580"/>
              </a:lnSpc>
            </a:pPr>
            <a:r>
              <a:rPr sz="4700" kern="0" spc="-1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endParaRPr sz="4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14660517" y="11551756"/>
            <a:ext cx="391159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3700" kern="0" spc="-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pt</a:t>
            </a:r>
            <a:endParaRPr sz="3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13853388" y="11940749"/>
            <a:ext cx="626744" cy="580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4700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 v</a:t>
            </a:r>
            <a:endParaRPr sz="4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13909341" y="11630586"/>
            <a:ext cx="669290" cy="384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4000"/>
              </a:lnSpc>
            </a:pPr>
            <a:r>
              <a:rPr sz="37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</a:t>
            </a:r>
            <a:endParaRPr sz="3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13516686" y="12431869"/>
            <a:ext cx="358140" cy="86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75"/>
              </a:lnSpc>
            </a:pPr>
            <a:r>
              <a:rPr sz="47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endParaRPr sz="4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13414387" y="11939483"/>
            <a:ext cx="302259" cy="73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75"/>
              </a:lnSpc>
            </a:pPr>
            <a:r>
              <a:rPr sz="37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endParaRPr sz="3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13116996" y="11749757"/>
            <a:ext cx="433705" cy="947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4000"/>
              </a:lnSpc>
              <a:spcBef>
                <a:spcPts val="0"/>
              </a:spcBef>
            </a:pPr>
            <a:r>
              <a:rPr sz="4500" kern="0" spc="-16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endParaRPr sz="4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13065773" y="11551756"/>
            <a:ext cx="38100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37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</a:t>
            </a:r>
            <a:endParaRPr sz="3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42" name="picture 1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327584" y="11556665"/>
            <a:ext cx="723422" cy="923897"/>
          </a:xfrm>
          <a:prstGeom prst="rect">
            <a:avLst/>
          </a:prstGeom>
        </p:spPr>
      </p:pic>
      <p:sp>
        <p:nvSpPr>
          <p:cNvPr id="148" name="textbox 148"/>
          <p:cNvSpPr/>
          <p:nvPr/>
        </p:nvSpPr>
        <p:spPr>
          <a:xfrm>
            <a:off x="696163" y="2509701"/>
            <a:ext cx="15878175" cy="1315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8800" b="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代码实现：</a:t>
            </a:r>
            <a:r>
              <a:rPr sz="88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Evict</a:t>
            </a:r>
            <a:r>
              <a:rPr sz="8800" b="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sz="8800" b="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8800" b="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)驱逐逻辑</a:t>
            </a:r>
            <a:endParaRPr sz="92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28724225" y="12185650"/>
            <a:ext cx="6950075" cy="2259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5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b="1" kern="0" spc="30" dirty="0">
                <a:solidFill>
                  <a:srgbClr val="30609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sz="5400" b="1" kern="0" spc="30" dirty="0">
                <a:solidFill>
                  <a:srgbClr val="3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再检查缓存列表</a:t>
            </a:r>
            <a:r>
              <a:rPr sz="5400" b="1" kern="0" spc="20" dirty="0">
                <a:solidFill>
                  <a:srgbClr val="3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54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驱</a:t>
            </a:r>
            <a:endParaRPr sz="54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0955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b="1" kern="0" spc="10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逐</a:t>
            </a:r>
            <a:r>
              <a:rPr sz="5400" b="1"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具有最大后向K距离的帧 </a:t>
            </a:r>
          </a:p>
        </p:txBody>
      </p:sp>
      <p:sp>
        <p:nvSpPr>
          <p:cNvPr id="154" name="textbox 154"/>
          <p:cNvSpPr/>
          <p:nvPr/>
        </p:nvSpPr>
        <p:spPr>
          <a:xfrm>
            <a:off x="1393190" y="6329680"/>
            <a:ext cx="6401435" cy="1358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5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10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b="1" kern="0" spc="-140" dirty="0">
                <a:solidFill>
                  <a:srgbClr val="30608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sz="5400" b="1" kern="0" spc="-140" dirty="0">
                <a:solidFill>
                  <a:srgbClr val="3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优先检查历史列表</a:t>
            </a:r>
            <a:endParaRPr sz="5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b="1" kern="0" spc="-17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按标准</a:t>
            </a:r>
            <a:r>
              <a:rPr sz="5400" b="1" kern="0" spc="-170" dirty="0" err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LRU</a:t>
            </a:r>
            <a:r>
              <a:rPr sz="5400" b="1" kern="0" spc="-4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5400" b="1"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策略</a:t>
            </a:r>
            <a:r>
              <a:rPr sz="5400" b="1" kern="0" spc="-17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驱逐</a:t>
            </a:r>
            <a:endParaRPr sz="5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4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5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608" y="511896"/>
            <a:ext cx="5647573" cy="1554597"/>
          </a:xfrm>
          <a:prstGeom prst="rect">
            <a:avLst/>
          </a:prstGeom>
        </p:spPr>
      </p:pic>
      <p:pic>
        <p:nvPicPr>
          <p:cNvPr id="6" name="图片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88964" y="-96583"/>
            <a:ext cx="5659120" cy="2449022"/>
          </a:xfrm>
          <a:prstGeom prst="rect">
            <a:avLst/>
          </a:prstGeom>
        </p:spPr>
      </p:pic>
      <p:sp>
        <p:nvSpPr>
          <p:cNvPr id="7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实验一</a:t>
            </a:r>
            <a:endParaRPr sz="7110" b="1" dirty="0"/>
          </a:p>
        </p:txBody>
      </p:sp>
      <p:sp>
        <p:nvSpPr>
          <p:cNvPr id="8" name="文本框 36"/>
          <p:cNvSpPr txBox="1"/>
          <p:nvPr/>
        </p:nvSpPr>
        <p:spPr>
          <a:xfrm>
            <a:off x="22840641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缓冲池管理</a:t>
            </a:r>
            <a:endParaRPr lang="en-US" sz="5400" b="1" dirty="0"/>
          </a:p>
        </p:txBody>
      </p:sp>
      <p:cxnSp>
        <p:nvCxnSpPr>
          <p:cNvPr id="9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10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可扩展哈希</a:t>
            </a:r>
            <a:endParaRPr sz="5400" dirty="0"/>
          </a:p>
        </p:txBody>
      </p:sp>
      <p:sp>
        <p:nvSpPr>
          <p:cNvPr id="11" name="文本框 36"/>
          <p:cNvSpPr txBox="1"/>
          <p:nvPr/>
        </p:nvSpPr>
        <p:spPr>
          <a:xfrm>
            <a:off x="17292714" y="784019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LRU_K</a:t>
            </a:r>
            <a:r>
              <a:rPr lang="zh-CN" altLang="en-US" sz="5400" b="1" dirty="0">
                <a:solidFill>
                  <a:schemeClr val="bg1"/>
                </a:solidFill>
              </a:rPr>
              <a:t>置换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9</a:t>
            </a:r>
            <a:endParaRPr lang="zh-CN" altLang="en-US" sz="36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96E9F1F-528C-A9A7-3495-3957D2DF8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080" y="3875486"/>
            <a:ext cx="15633812" cy="15873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 170"/>
          <p:cNvSpPr/>
          <p:nvPr/>
        </p:nvSpPr>
        <p:spPr>
          <a:xfrm>
            <a:off x="0" y="0"/>
            <a:ext cx="36404550" cy="20320000"/>
          </a:xfrm>
          <a:prstGeom prst="rect">
            <a:avLst/>
          </a:prstGeom>
          <a:solidFill>
            <a:srgbClr val="F8F5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2" name="picture 1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82704" y="6439002"/>
            <a:ext cx="32232587" cy="12014199"/>
          </a:xfrm>
          <a:prstGeom prst="rect">
            <a:avLst/>
          </a:prstGeom>
        </p:spPr>
      </p:pic>
      <p:sp>
        <p:nvSpPr>
          <p:cNvPr id="174" name="textbox 174"/>
          <p:cNvSpPr/>
          <p:nvPr/>
        </p:nvSpPr>
        <p:spPr>
          <a:xfrm>
            <a:off x="2571658" y="7359116"/>
            <a:ext cx="26261402" cy="10174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54700" algn="l" rtl="0" eaLnBrk="0">
              <a:lnSpc>
                <a:spcPct val="95000"/>
              </a:lnSpc>
            </a:pPr>
            <a:r>
              <a:rPr sz="46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执行引擎             </a:t>
            </a:r>
            <a:r>
              <a:rPr sz="46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               执行引擎</a:t>
            </a:r>
            <a:endParaRPr sz="4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1950" algn="l" rtl="0" eaLnBrk="0">
              <a:lnSpc>
                <a:spcPct val="80000"/>
              </a:lnSpc>
              <a:spcBef>
                <a:spcPts val="1000"/>
              </a:spcBef>
            </a:pPr>
            <a:r>
              <a:rPr sz="33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Fetch</a:t>
            </a:r>
            <a:r>
              <a:rPr sz="3300" kern="0" spc="2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3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Page X</a:t>
            </a:r>
            <a:r>
              <a:rPr sz="33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                                                </a:t>
            </a:r>
            <a:r>
              <a:rPr sz="3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      </a:t>
            </a:r>
            <a:r>
              <a:rPr sz="33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Fetch</a:t>
            </a:r>
            <a:r>
              <a:rPr sz="3300" kern="0" spc="6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3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PageY</a:t>
            </a:r>
            <a:endParaRPr sz="3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470"/>
              </a:lnSpc>
              <a:spcBef>
                <a:spcPts val="1330"/>
              </a:spcBef>
            </a:pPr>
            <a:r>
              <a:rPr sz="6700" kern="0" spc="0" baseline="11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BPM</a:t>
            </a:r>
            <a:r>
              <a:rPr sz="43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</a:t>
            </a:r>
            <a:r>
              <a:rPr sz="44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缓冲池管理器</a:t>
            </a:r>
            <a:r>
              <a:rPr sz="44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</a:t>
            </a:r>
            <a:r>
              <a:rPr sz="44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</a:t>
            </a:r>
            <a:r>
              <a:rPr sz="6700" b="1" kern="0" spc="0" baseline="12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BPM</a:t>
            </a:r>
            <a:r>
              <a:rPr sz="4300" b="1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</a:t>
            </a:r>
            <a:r>
              <a:rPr sz="4400" kern="0" spc="5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缓冲池管</a:t>
            </a:r>
            <a:r>
              <a:rPr lang="zh-CN" altLang="en-US" sz="44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</a:t>
            </a:r>
            <a:r>
              <a:rPr sz="44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器</a:t>
            </a:r>
            <a:endParaRPr sz="4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41600" algn="l" rtl="0" eaLnBrk="0">
              <a:lnSpc>
                <a:spcPts val="8480"/>
              </a:lnSpc>
              <a:spcBef>
                <a:spcPts val="1365"/>
              </a:spcBef>
            </a:pPr>
            <a:r>
              <a:rPr sz="7000" kern="0" spc="120" baseline="-15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页表</a:t>
            </a:r>
            <a:r>
              <a:rPr sz="4500" kern="0" spc="2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5000" b="1" kern="0" spc="120" baseline="810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找到!</a:t>
            </a:r>
            <a:r>
              <a:rPr sz="3200" kern="0" spc="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</a:t>
            </a:r>
            <a:r>
              <a:rPr sz="7000" kern="0" spc="120" baseline="-14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替换器</a:t>
            </a:r>
            <a:r>
              <a:rPr sz="45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     </a:t>
            </a:r>
            <a:r>
              <a:rPr sz="7000" kern="0" spc="120" baseline="-15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页表</a:t>
            </a:r>
            <a:r>
              <a:rPr sz="4500" kern="0" spc="13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5000" kern="0" spc="120" baseline="80000" dirty="0" err="1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未找到</a:t>
            </a:r>
            <a:r>
              <a:rPr sz="3200" kern="0" spc="1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5000" kern="0" spc="120" baseline="5600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请求</a:t>
            </a:r>
            <a:r>
              <a:rPr sz="5000" kern="0" spc="110" baseline="5600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</a:t>
            </a:r>
            <a:r>
              <a:rPr lang="zh-CN" altLang="en-US" sz="5000" kern="0" spc="110" baseline="56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白</a:t>
            </a:r>
            <a:r>
              <a:rPr sz="5000" kern="0" spc="110" baseline="56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帧</a:t>
            </a:r>
            <a:endParaRPr sz="5000" baseline="56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025650" algn="l" rtl="0" eaLnBrk="0">
              <a:lnSpc>
                <a:spcPct val="87000"/>
              </a:lnSpc>
              <a:spcBef>
                <a:spcPts val="850"/>
              </a:spcBef>
            </a:pPr>
            <a:r>
              <a:rPr sz="3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(Page Table)                                               (Replacer)                              </a:t>
            </a:r>
            <a:r>
              <a:rPr sz="3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(Page Table)</a:t>
            </a:r>
            <a:endParaRPr sz="3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364200" algn="l" rtl="0" eaLnBrk="0">
              <a:lnSpc>
                <a:spcPct val="95000"/>
              </a:lnSpc>
              <a:spcBef>
                <a:spcPts val="905"/>
              </a:spcBef>
            </a:pPr>
            <a:r>
              <a:rPr sz="3000" kern="0" spc="2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更新映射</a:t>
            </a:r>
            <a:endParaRPr sz="3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23465" algn="l" rtl="0" eaLnBrk="0">
              <a:lnSpc>
                <a:spcPct val="86000"/>
              </a:lnSpc>
              <a:spcBef>
                <a:spcPts val="1385"/>
              </a:spcBef>
            </a:pPr>
            <a:r>
              <a:rPr sz="46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帧数组</a:t>
            </a:r>
            <a:r>
              <a:rPr sz="46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</a:t>
            </a:r>
            <a:r>
              <a:rPr sz="46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46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磁盘管理器                        帧数组</a:t>
            </a:r>
            <a:endParaRPr sz="4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380615" algn="l" rtl="0" eaLnBrk="0">
              <a:lnSpc>
                <a:spcPts val="4485"/>
              </a:lnSpc>
            </a:pPr>
            <a:r>
              <a:rPr sz="3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(pages_)                                               </a:t>
            </a: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(Disk </a:t>
            </a: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Manager)                                                                     </a:t>
            </a:r>
            <a:r>
              <a:rPr lang="en-US" sz="3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(pages_)</a:t>
            </a:r>
            <a:endParaRPr sz="3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2089150" y="2522855"/>
            <a:ext cx="28683585" cy="3241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ct val="95000"/>
              </a:lnSpc>
              <a:spcBef>
                <a:spcPts val="0"/>
              </a:spcBef>
            </a:pPr>
            <a:r>
              <a:rPr sz="8800" b="1" kern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系统集成：</a:t>
            </a:r>
            <a:r>
              <a:rPr sz="88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BPM</a:t>
            </a:r>
            <a:r>
              <a:rPr sz="8800" b="1" kern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的核心工作流</a:t>
            </a: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1390"/>
              </a:spcBef>
            </a:pPr>
            <a:r>
              <a:rPr sz="5400" kern="0" spc="14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现在，我们将看到</a:t>
            </a:r>
            <a:r>
              <a:rPr sz="5400" kern="0" spc="0" dirty="0" err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BPM</a:t>
            </a:r>
            <a:r>
              <a:rPr sz="5400" kern="0" spc="14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如何协同页表和替换器来处理</a:t>
            </a:r>
            <a:r>
              <a:rPr sz="5400" kern="0" spc="13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两个最核心的操作：获取已存在的页面和创建新页面</a:t>
            </a:r>
            <a:r>
              <a:rPr sz="54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5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91000"/>
              </a:lnSpc>
              <a:spcBef>
                <a:spcPts val="5"/>
              </a:spcBef>
            </a:pPr>
            <a:r>
              <a:rPr sz="5300" b="1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流程1:缓存命中</a:t>
            </a:r>
            <a:r>
              <a:rPr sz="53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5300" b="1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Cache</a:t>
            </a:r>
            <a:r>
              <a:rPr sz="53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Hit</a:t>
            </a:r>
            <a:r>
              <a:rPr sz="5300" b="1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                                            </a:t>
            </a:r>
            <a:r>
              <a:rPr lang="en-US" sz="5300" b="1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5300" b="1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流程2:缓存未命中</a:t>
            </a:r>
            <a:r>
              <a:rPr sz="53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5300" b="1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Cache</a:t>
            </a:r>
            <a:r>
              <a:rPr sz="5300" b="1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53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Miss</a:t>
            </a:r>
            <a:r>
              <a:rPr sz="5300" b="1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5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29133871" y="12097105"/>
            <a:ext cx="4880609" cy="526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96900" algn="l" rtl="0" eaLnBrk="0">
              <a:lnSpc>
                <a:spcPct val="85000"/>
              </a:lnSpc>
            </a:pPr>
            <a:r>
              <a:rPr sz="46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替换器</a:t>
            </a:r>
            <a:endParaRPr sz="4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88315" algn="l" rtl="0" eaLnBrk="0">
              <a:lnSpc>
                <a:spcPts val="4080"/>
              </a:lnSpc>
            </a:pPr>
            <a:r>
              <a:rPr sz="33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(Replacer)</a:t>
            </a:r>
            <a:endParaRPr sz="3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995"/>
              </a:spcBef>
            </a:pPr>
            <a:r>
              <a:rPr sz="33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从磁盘读取页面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1325"/>
              </a:spcBef>
            </a:pPr>
            <a:r>
              <a:rPr sz="4400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磁盘管理器</a:t>
            </a:r>
            <a:endParaRPr sz="4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1115" algn="l" rtl="0" eaLnBrk="0">
              <a:lnSpc>
                <a:spcPts val="4220"/>
              </a:lnSpc>
            </a:pPr>
            <a:r>
              <a:rPr sz="33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(Disk</a:t>
            </a:r>
            <a:r>
              <a:rPr sz="3300" kern="0" spc="7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3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Manager)</a:t>
            </a:r>
            <a:endParaRPr sz="3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4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5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8" y="511896"/>
            <a:ext cx="5647573" cy="1554597"/>
          </a:xfrm>
          <a:prstGeom prst="rect">
            <a:avLst/>
          </a:prstGeom>
        </p:spPr>
      </p:pic>
      <p:pic>
        <p:nvPicPr>
          <p:cNvPr id="6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67134" y="-102790"/>
            <a:ext cx="5202172" cy="2449022"/>
          </a:xfrm>
          <a:prstGeom prst="rect">
            <a:avLst/>
          </a:prstGeom>
        </p:spPr>
      </p:pic>
      <p:sp>
        <p:nvSpPr>
          <p:cNvPr id="7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实验一</a:t>
            </a:r>
            <a:endParaRPr sz="7110" b="1" dirty="0"/>
          </a:p>
        </p:txBody>
      </p:sp>
      <p:cxnSp>
        <p:nvCxnSpPr>
          <p:cNvPr id="9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10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可扩展哈希</a:t>
            </a:r>
            <a:endParaRPr sz="5400" dirty="0"/>
          </a:p>
        </p:txBody>
      </p:sp>
      <p:sp>
        <p:nvSpPr>
          <p:cNvPr id="11" name="文本框 36"/>
          <p:cNvSpPr txBox="1"/>
          <p:nvPr/>
        </p:nvSpPr>
        <p:spPr>
          <a:xfrm>
            <a:off x="17292714" y="784019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5400" b="1" dirty="0"/>
              <a:t>LRU_K</a:t>
            </a:r>
            <a:r>
              <a:rPr lang="zh-CN" altLang="en-US" sz="5400" b="1" dirty="0"/>
              <a:t>置换</a:t>
            </a:r>
            <a:endParaRPr lang="en-US" sz="5400" b="1" dirty="0"/>
          </a:p>
        </p:txBody>
      </p:sp>
      <p:sp>
        <p:nvSpPr>
          <p:cNvPr id="8" name="文本框 36"/>
          <p:cNvSpPr txBox="1"/>
          <p:nvPr/>
        </p:nvSpPr>
        <p:spPr>
          <a:xfrm>
            <a:off x="22840641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缓冲池管理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10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picture 1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6404550" cy="20320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1397544" y="3079192"/>
            <a:ext cx="17754497" cy="17094200"/>
            <a:chOff x="0" y="0"/>
            <a:chExt cx="17754497" cy="17094200"/>
          </a:xfrm>
        </p:grpSpPr>
        <p:pic>
          <p:nvPicPr>
            <p:cNvPr id="184" name="picture 18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7754497" cy="17094200"/>
            </a:xfrm>
            <a:prstGeom prst="rect">
              <a:avLst/>
            </a:prstGeom>
          </p:spPr>
        </p:pic>
        <p:sp>
          <p:nvSpPr>
            <p:cNvPr id="186" name="textbox 186"/>
            <p:cNvSpPr/>
            <p:nvPr/>
          </p:nvSpPr>
          <p:spPr>
            <a:xfrm>
              <a:off x="444392" y="514705"/>
              <a:ext cx="14575155" cy="16275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101465" algn="l" rtl="0" eaLnBrk="0">
                <a:lnSpc>
                  <a:spcPts val="4635"/>
                </a:lnSpc>
              </a:pPr>
              <a:r>
                <a:rPr sz="34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FetchPglmp(page_id)</a:t>
              </a:r>
              <a:endParaRPr sz="3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729865" algn="l" rtl="0" eaLnBrk="0">
                <a:lnSpc>
                  <a:spcPts val="5550"/>
                </a:lnSpc>
                <a:spcBef>
                  <a:spcPts val="1025"/>
                </a:spcBef>
              </a:pPr>
              <a:r>
                <a:rPr sz="5200" b="1" kern="0" spc="-90" baseline="47000" dirty="0">
                  <a:solidFill>
                    <a:srgbClr val="207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Yes</a:t>
              </a:r>
              <a:r>
                <a:rPr sz="3300" b="1" kern="0" spc="-90" dirty="0">
                  <a:solidFill>
                    <a:srgbClr val="207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 </a:t>
              </a:r>
              <a:r>
                <a:rPr lang="en-US" sz="3300" b="1" kern="0" spc="-90" dirty="0">
                  <a:solidFill>
                    <a:srgbClr val="20703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5200" kern="0" spc="-90" baseline="80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在</a:t>
              </a:r>
              <a:r>
                <a:rPr sz="3300" kern="0" spc="-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5200" kern="0" spc="-90" baseline="800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page_tabl</a:t>
              </a:r>
              <a:r>
                <a:rPr sz="5200" kern="0" spc="-100" baseline="800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</a:t>
              </a:r>
              <a:endParaRPr sz="5200" baseline="8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326380" algn="l" rtl="0" eaLnBrk="0">
                <a:lnSpc>
                  <a:spcPct val="83000"/>
                </a:lnSpc>
                <a:spcBef>
                  <a:spcPts val="210"/>
                </a:spcBef>
              </a:pPr>
              <a:r>
                <a:rPr sz="3100" b="1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中宣找?</a:t>
              </a:r>
              <a:endParaRPr sz="3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92835" algn="l" rtl="0" eaLnBrk="0">
                <a:lnSpc>
                  <a:spcPts val="5185"/>
                </a:lnSpc>
                <a:spcBef>
                  <a:spcPts val="1290"/>
                </a:spcBef>
              </a:pPr>
              <a:r>
                <a:rPr sz="4100" b="1" kern="0" spc="1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缓存命中</a:t>
              </a:r>
              <a:r>
                <a:rPr sz="4100" kern="0" spc="1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   </a:t>
              </a:r>
              <a:r>
                <a:rPr sz="4100" kern="0" spc="1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 </a:t>
              </a:r>
              <a:r>
                <a:rPr sz="4300" b="1" kern="0" spc="1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缓存未命中</a:t>
              </a:r>
              <a:endParaRPr sz="4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ct val="81000"/>
                </a:lnSpc>
                <a:spcBef>
                  <a:spcPts val="2155"/>
                </a:spcBef>
              </a:pPr>
              <a:r>
                <a:rPr sz="3400" kern="0" spc="-3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Arial" panose="020B0604020202020204"/>
                  <a:cs typeface="Times New Roman" panose="02020603050405020304" pitchFamily="18" charset="0"/>
                </a:rPr>
                <a:t>pin_count</a:t>
              </a:r>
              <a:r>
                <a:rPr sz="3400" kern="0" spc="-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Arial" panose="020B0604020202020204"/>
                  <a:cs typeface="Times New Roman" panose="02020603050405020304" pitchFamily="18" charset="0"/>
                </a:rPr>
                <a:t>++</a:t>
              </a:r>
              <a:endParaRPr sz="3400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endParaRPr>
            </a:p>
            <a:p>
              <a:pPr marL="17780" algn="l" rtl="0" eaLnBrk="0">
                <a:lnSpc>
                  <a:spcPts val="4170"/>
                </a:lnSpc>
                <a:spcBef>
                  <a:spcPts val="260"/>
                </a:spcBef>
              </a:pPr>
              <a:r>
                <a:rPr sz="3400" kern="0" spc="-16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RecordAccess</a:t>
              </a:r>
              <a:r>
                <a:rPr sz="3400" kern="0" spc="-16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()</a:t>
              </a:r>
              <a:endParaRPr sz="3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12700" algn="l" rtl="0" eaLnBrk="0">
                <a:lnSpc>
                  <a:spcPct val="81000"/>
                </a:lnSpc>
                <a:spcBef>
                  <a:spcPts val="20"/>
                </a:spcBef>
              </a:pPr>
              <a:r>
                <a:rPr sz="3400" kern="0" spc="-2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Arial" panose="020B0604020202020204"/>
                  <a:cs typeface="Times New Roman" panose="02020603050405020304" pitchFamily="18" charset="0"/>
                </a:rPr>
                <a:t>SetEvictable</a:t>
              </a:r>
              <a:r>
                <a:rPr sz="3400" kern="0" spc="-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Arial" panose="020B0604020202020204"/>
                  <a:cs typeface="Times New Roman" panose="02020603050405020304" pitchFamily="18" charset="0"/>
                </a:rPr>
                <a:t>(false</a:t>
              </a:r>
              <a:r>
                <a:rPr sz="3400" kern="0" spc="-3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Arial" panose="020B0604020202020204"/>
                  <a:cs typeface="Times New Roman" panose="02020603050405020304" pitchFamily="18" charset="0"/>
                </a:rPr>
                <a:t>)</a:t>
              </a:r>
              <a:endParaRPr lang="en-US" sz="3400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endParaRPr>
            </a:p>
            <a:p>
              <a:pPr marL="12700" algn="l" rtl="0" eaLnBrk="0">
                <a:lnSpc>
                  <a:spcPct val="81000"/>
                </a:lnSpc>
                <a:spcBef>
                  <a:spcPts val="20"/>
                </a:spcBef>
              </a:pPr>
              <a:r>
                <a:rPr lang="zh-CN" altLang="en-US" sz="3100" kern="0" spc="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写</a:t>
              </a:r>
              <a:r>
                <a:rPr sz="3100" kern="0" spc="50" dirty="0" err="1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回页面指针</a:t>
              </a:r>
              <a:endParaRPr sz="3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4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4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78000"/>
                </a:lnSpc>
                <a:spcBef>
                  <a:spcPts val="1020"/>
                </a:spcBef>
              </a:pPr>
              <a:r>
                <a:rPr lang="en-US" sz="3400" kern="0" spc="-11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</a:t>
              </a:r>
              <a:r>
                <a:rPr sz="3400" kern="0" spc="-11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eplacer</a:t>
              </a:r>
              <a:r>
                <a:rPr lang="en-US" sz="3400" kern="0" spc="-11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:</a:t>
              </a:r>
              <a:r>
                <a:rPr sz="3400" kern="0" spc="-11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Evict</a:t>
              </a:r>
              <a:r>
                <a:rPr sz="3400" kern="0" spc="-1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3400" kern="0" spc="-1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3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086850" algn="l" rtl="0" eaLnBrk="0">
                <a:lnSpc>
                  <a:spcPts val="5800"/>
                </a:lnSpc>
              </a:pPr>
              <a:r>
                <a:rPr sz="4700" kern="0" spc="-260" dirty="0">
                  <a:solidFill>
                    <a:srgbClr val="30607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Yes</a:t>
              </a:r>
              <a:endParaRPr sz="4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904480" algn="l" rtl="0" eaLnBrk="0">
                <a:lnSpc>
                  <a:spcPct val="97000"/>
                </a:lnSpc>
                <a:spcBef>
                  <a:spcPts val="1330"/>
                </a:spcBef>
              </a:pPr>
              <a:r>
                <a:rPr sz="3100" b="1" kern="0" spc="30" dirty="0" err="1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获取空</a:t>
              </a:r>
              <a:r>
                <a:rPr lang="zh-CN" altLang="en-US" sz="3100" b="1" kern="0" spc="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白</a:t>
              </a:r>
              <a:r>
                <a:rPr sz="3100" b="1" kern="0" spc="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帧</a:t>
              </a:r>
              <a:endParaRPr sz="3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914515" algn="l" rtl="0" eaLnBrk="0">
                <a:lnSpc>
                  <a:spcPct val="97000"/>
                </a:lnSpc>
                <a:spcBef>
                  <a:spcPts val="935"/>
                </a:spcBef>
              </a:pPr>
              <a:r>
                <a:rPr sz="3100" b="1" kern="0" spc="2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处理脏页写回(若有</a:t>
              </a:r>
              <a:r>
                <a:rPr sz="3100" b="1" kern="0" spc="2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)</a:t>
              </a:r>
              <a:endParaRPr sz="3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491730" algn="l" rtl="0" eaLnBrk="0">
                <a:lnSpc>
                  <a:spcPct val="97000"/>
                </a:lnSpc>
                <a:spcBef>
                  <a:spcPts val="930"/>
                </a:spcBef>
              </a:pPr>
              <a:r>
                <a:rPr sz="3100" b="1" kern="0" spc="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从</a:t>
              </a:r>
              <a:r>
                <a:rPr lang="zh-CN" altLang="en-US" sz="3100" b="1" kern="0" spc="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磁盘读取页面</a:t>
              </a:r>
              <a:endParaRPr sz="3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910830" algn="l" rtl="0" eaLnBrk="0">
                <a:lnSpc>
                  <a:spcPct val="97000"/>
                </a:lnSpc>
                <a:spcBef>
                  <a:spcPts val="935"/>
                </a:spcBef>
              </a:pPr>
              <a:r>
                <a:rPr sz="3100" b="1" kern="0" spc="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更新元效据</a:t>
              </a:r>
              <a:endParaRPr sz="3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1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707630" algn="l" rtl="0" eaLnBrk="0">
                <a:lnSpc>
                  <a:spcPct val="97000"/>
                </a:lnSpc>
                <a:spcBef>
                  <a:spcPts val="5"/>
                </a:spcBef>
              </a:pPr>
              <a:r>
                <a:rPr sz="3100" b="1" kern="0" spc="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返回页面指针</a:t>
              </a:r>
              <a:endParaRPr sz="3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88" name="rect 188"/>
          <p:cNvSpPr/>
          <p:nvPr/>
        </p:nvSpPr>
        <p:spPr>
          <a:xfrm>
            <a:off x="20840876" y="9340901"/>
            <a:ext cx="13226860" cy="8375700"/>
          </a:xfrm>
          <a:prstGeom prst="rect">
            <a:avLst/>
          </a:prstGeom>
          <a:solidFill>
            <a:srgbClr val="F0CEC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90" name="table 190"/>
          <p:cNvGraphicFramePr>
            <a:graphicFrameLocks noGrp="1"/>
          </p:cNvGraphicFramePr>
          <p:nvPr/>
        </p:nvGraphicFramePr>
        <p:xfrm>
          <a:off x="19253272" y="3506012"/>
          <a:ext cx="16061689" cy="15525560"/>
        </p:xfrm>
        <a:graphic>
          <a:graphicData uri="http://schemas.openxmlformats.org/drawingml/2006/table">
            <a:tbl>
              <a:tblPr/>
              <a:tblGrid>
                <a:gridCol w="657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03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16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265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marL="215265" algn="l" rtl="0" eaLnBrk="0">
                        <a:lnSpc>
                          <a:spcPct val="77000"/>
                        </a:lnSpc>
                        <a:spcBef>
                          <a:spcPts val="1190"/>
                        </a:spcBef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marL="215265" algn="l" rtl="0" eaLnBrk="0">
                        <a:lnSpc>
                          <a:spcPct val="77000"/>
                        </a:lnSpc>
                        <a:spcBef>
                          <a:spcPts val="1210"/>
                        </a:spcBef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marL="215265" algn="l" rtl="0" eaLnBrk="0">
                        <a:lnSpc>
                          <a:spcPct val="77000"/>
                        </a:lnSpc>
                        <a:spcBef>
                          <a:spcPts val="1320"/>
                        </a:spcBef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marL="215265" algn="l" rtl="0" eaLnBrk="0">
                        <a:lnSpc>
                          <a:spcPct val="76000"/>
                        </a:lnSpc>
                        <a:spcBef>
                          <a:spcPts val="1390"/>
                        </a:spcBef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marL="215265" algn="l" rtl="0" eaLnBrk="0">
                        <a:lnSpc>
                          <a:spcPct val="77000"/>
                        </a:lnSpc>
                        <a:spcBef>
                          <a:spcPts val="1240"/>
                        </a:spcBef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marL="215265" algn="l" rtl="0" eaLnBrk="0">
                        <a:lnSpc>
                          <a:spcPct val="76000"/>
                        </a:lnSpc>
                        <a:spcBef>
                          <a:spcPts val="1215"/>
                        </a:spcBef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marL="215265" algn="l" rtl="0" eaLnBrk="0">
                        <a:lnSpc>
                          <a:spcPct val="77000"/>
                        </a:lnSpc>
                        <a:spcBef>
                          <a:spcPts val="1295"/>
                        </a:spcBef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marL="215265" algn="l" rtl="0" eaLnBrk="0">
                        <a:lnSpc>
                          <a:spcPct val="77000"/>
                        </a:lnSpc>
                        <a:spcBef>
                          <a:spcPts val="1185"/>
                        </a:spcBef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445"/>
                        </a:spcBef>
                      </a:pPr>
                      <a:r>
                        <a:rPr sz="2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10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320"/>
                        </a:spcBef>
                      </a:pPr>
                      <a:r>
                        <a:rPr sz="2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11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240"/>
                        </a:spcBef>
                      </a:pPr>
                      <a:r>
                        <a:rPr sz="2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12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060"/>
                        </a:spcBef>
                      </a:pPr>
                      <a:r>
                        <a:rPr sz="2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13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370"/>
                        </a:spcBef>
                      </a:pPr>
                      <a:r>
                        <a:rPr sz="2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14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360"/>
                        </a:spcBef>
                      </a:pPr>
                      <a:r>
                        <a:rPr sz="2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15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390"/>
                        </a:spcBef>
                      </a:pPr>
                      <a:r>
                        <a:rPr sz="2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16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135"/>
                        </a:spcBef>
                      </a:pPr>
                      <a:r>
                        <a:rPr sz="2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17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395"/>
                        </a:spcBef>
                      </a:pPr>
                      <a:r>
                        <a:rPr sz="2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18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135"/>
                        </a:spcBef>
                      </a:pPr>
                      <a:r>
                        <a:rPr sz="2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19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295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20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270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21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8000"/>
                        </a:lnSpc>
                        <a:spcBef>
                          <a:spcPts val="1250"/>
                        </a:spcBef>
                      </a:pPr>
                      <a:r>
                        <a:rPr sz="2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22</a:t>
                      </a:r>
                      <a:endParaRPr sz="28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090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23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290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23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270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24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260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25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290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26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335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27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8000"/>
                        </a:lnSpc>
                        <a:spcBef>
                          <a:spcPts val="1100"/>
                        </a:spcBef>
                      </a:pPr>
                      <a:r>
                        <a:rPr sz="2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28</a:t>
                      </a:r>
                      <a:endParaRPr sz="28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120"/>
                        </a:spcBef>
                      </a:pP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29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295"/>
                        </a:spcBef>
                      </a:pPr>
                      <a:r>
                        <a:rPr sz="2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30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290"/>
                        </a:spcBef>
                      </a:pPr>
                      <a:r>
                        <a:rPr sz="2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31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1490"/>
                        </a:spcBef>
                      </a:pPr>
                      <a:r>
                        <a:rPr sz="2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32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9000"/>
                        </a:lnSpc>
                        <a:spcBef>
                          <a:spcPts val="5"/>
                        </a:spcBef>
                      </a:pPr>
                      <a:r>
                        <a:rPr sz="2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33</a:t>
                      </a:r>
                      <a:endParaRPr sz="25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00455" indent="-799465" algn="l" rtl="0" eaLnBrk="0">
                        <a:lnSpc>
                          <a:spcPct val="103000"/>
                        </a:lnSpc>
                      </a:pPr>
                      <a:r>
                        <a:rPr sz="3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auto</a:t>
                      </a:r>
                      <a:r>
                        <a:rPr sz="3400" kern="0" spc="8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3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BufferPoolManagerInstance:</a:t>
                      </a:r>
                      <a:r>
                        <a:rPr sz="3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:FetchPgImp(page_id_t      page_id)-&gt;Page*{</a:t>
                      </a:r>
                      <a:r>
                        <a:rPr sz="3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std:!Scoped</a:t>
                      </a:r>
                      <a:r>
                        <a:rPr sz="2800" u="dotted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800" kern="0" spc="-6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lock</a:t>
                      </a:r>
                      <a:r>
                        <a:rPr sz="2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     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lock(latch</a:t>
                      </a:r>
                      <a:r>
                        <a:rPr sz="2800" u="dotted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800" kern="0" spc="-5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);</a:t>
                      </a:r>
                      <a:endParaRPr sz="2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00455" algn="l" rtl="0" eaLnBrk="0">
                        <a:lnSpc>
                          <a:spcPct val="83000"/>
                        </a:lnSpc>
                        <a:spcBef>
                          <a:spcPts val="285"/>
                        </a:spcBef>
                      </a:pPr>
                      <a:r>
                        <a:rPr sz="3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frame</a:t>
                      </a:r>
                      <a:r>
                        <a:rPr sz="3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3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id</a:t>
                      </a:r>
                      <a:r>
                        <a:rPr sz="3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3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sz="3100" b="1" kern="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3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frame</a:t>
                      </a:r>
                      <a:r>
                        <a:rPr sz="3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3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id</a:t>
                      </a:r>
                      <a:r>
                        <a:rPr sz="3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;</a:t>
                      </a:r>
                      <a:endParaRPr sz="3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05535" algn="l" rtl="0" eaLnBrk="0">
                        <a:lnSpc>
                          <a:spcPct val="86000"/>
                        </a:lnSpc>
                        <a:spcBef>
                          <a:spcPts val="840"/>
                        </a:spcBef>
                      </a:pPr>
                      <a:r>
                        <a:rPr sz="2800" b="1" kern="0" spc="4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//2</a:t>
                      </a:r>
                      <a:r>
                        <a:rPr sz="2800" kern="0" spc="-6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2800" b="1" kern="0" spc="4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.</a:t>
                      </a:r>
                      <a:r>
                        <a:rPr sz="2800" kern="0" spc="-7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2800" b="1" kern="0" spc="4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页面不在组冲池中(存未命中)</a:t>
                      </a:r>
                      <a:endParaRPr sz="2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1105535" algn="l" rtl="0" eaLnBrk="0">
                        <a:lnSpc>
                          <a:spcPct val="101000"/>
                        </a:lnSpc>
                        <a:spcBef>
                          <a:spcPts val="15"/>
                        </a:spcBef>
                      </a:pPr>
                      <a:r>
                        <a:rPr sz="28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//2a.</a:t>
                      </a:r>
                      <a:r>
                        <a:rPr sz="2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28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复</a:t>
                      </a:r>
                      <a:r>
                        <a:rPr sz="2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试从</a:t>
                      </a:r>
                      <a:r>
                        <a:rPr sz="2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2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free</a:t>
                      </a:r>
                      <a:r>
                        <a:rPr sz="2800" u="dotted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800" kern="0" spc="-1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list</a:t>
                      </a:r>
                      <a:r>
                        <a:rPr sz="2800" u="dotted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800" kern="0" spc="5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2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获取</a:t>
                      </a:r>
                      <a:endParaRPr sz="2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00455" algn="l" rtl="0" eaLnBrk="0">
                        <a:lnSpc>
                          <a:spcPct val="78000"/>
                        </a:lnSpc>
                        <a:spcBef>
                          <a:spcPts val="935"/>
                        </a:spcBef>
                      </a:pPr>
                      <a:r>
                        <a:rPr sz="3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}   </a:t>
                      </a:r>
                      <a:r>
                        <a:rPr sz="3100" b="1" kern="0" spc="-20" dirty="0">
                          <a:solidFill>
                            <a:srgbClr val="20205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else</a:t>
                      </a:r>
                      <a:r>
                        <a:rPr sz="3100" b="1" kern="0" spc="0" dirty="0">
                          <a:solidFill>
                            <a:srgbClr val="20205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</a:t>
                      </a:r>
                      <a:r>
                        <a:rPr sz="3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{</a:t>
                      </a:r>
                      <a:endParaRPr sz="3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6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118860" algn="l" rtl="0" eaLnBrk="0">
                        <a:lnSpc>
                          <a:spcPct val="90000"/>
                        </a:lnSpc>
                        <a:spcBef>
                          <a:spcPts val="310"/>
                        </a:spcBef>
                        <a:tabLst>
                          <a:tab pos="6299200" algn="l"/>
                        </a:tabLst>
                      </a:pPr>
                      <a:r>
                        <a:rPr sz="1000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	</a:t>
                      </a: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93340" algn="l" rtl="0" eaLnBrk="0">
                        <a:lnSpc>
                          <a:spcPct val="76000"/>
                        </a:lnSpc>
                        <a:spcBef>
                          <a:spcPts val="15"/>
                        </a:spcBef>
                      </a:pPr>
                      <a:r>
                        <a:rPr sz="4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(!replacer_-&gt;Evict(&amp;frame_id)){</a:t>
                      </a:r>
                      <a:endParaRPr sz="4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marL="2802255" algn="l" rtl="0" eaLnBrk="0">
                        <a:lnSpc>
                          <a:spcPts val="4180"/>
                        </a:lnSpc>
                      </a:pPr>
                      <a:r>
                        <a:rPr sz="3400" kern="0" spc="-90" dirty="0">
                          <a:solidFill>
                            <a:srgbClr val="30205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nullptr</a:t>
                      </a:r>
                      <a:r>
                        <a:rPr sz="3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:</a:t>
                      </a:r>
                      <a:r>
                        <a:rPr sz="34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//  没 可 用 的</a:t>
                      </a:r>
                      <a:endParaRPr sz="34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50085" algn="l" rtl="0" eaLnBrk="0">
                        <a:lnSpc>
                          <a:spcPct val="98000"/>
                        </a:lnSpc>
                        <a:spcBef>
                          <a:spcPts val="845"/>
                        </a:spcBef>
                      </a:pPr>
                      <a:r>
                        <a:rPr sz="28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//</a:t>
                      </a:r>
                      <a:r>
                        <a:rPr sz="2800" kern="0" spc="-8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28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.</a:t>
                      </a:r>
                      <a:r>
                        <a:rPr sz="2800" kern="0" spc="-8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28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.</a:t>
                      </a:r>
                      <a:r>
                        <a:rPr sz="2800" kern="0" spc="-8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28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.处理嵌组</a:t>
                      </a:r>
                      <a:r>
                        <a:rPr sz="2800" b="1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逻的胜页</a:t>
                      </a:r>
                      <a:r>
                        <a:rPr sz="28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</a:t>
                      </a:r>
                      <a:r>
                        <a:rPr sz="2800" b="1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.</a:t>
                      </a:r>
                      <a:r>
                        <a:rPr sz="28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.</a:t>
                      </a:r>
                      <a:endParaRPr sz="2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1945005" algn="l" rtl="0" eaLnBrk="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page</a:t>
                      </a:r>
                      <a:r>
                        <a:rPr sz="2800" u="dotted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table</a:t>
                      </a:r>
                      <a:r>
                        <a:rPr sz="2800" u="dotted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800" kern="0" spc="-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-&gt;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Remove</a:t>
                      </a:r>
                      <a:r>
                        <a:rPr sz="2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old</a:t>
                      </a:r>
                      <a:r>
                        <a:rPr sz="2800" u="dotted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800" kern="0" spc="-6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page</a:t>
                      </a:r>
                      <a:r>
                        <a:rPr sz="2800" u="dotted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800" kern="0" spc="-6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id</a:t>
                      </a:r>
                      <a:r>
                        <a:rPr sz="2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;</a:t>
                      </a:r>
                      <a:endParaRPr sz="2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00455" algn="l" rtl="0" eaLnBrk="0">
                        <a:lnSpc>
                          <a:spcPct val="86000"/>
                        </a:lnSpc>
                        <a:spcBef>
                          <a:spcPts val="50"/>
                        </a:spcBef>
                      </a:pPr>
                      <a:r>
                        <a:rPr sz="4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}</a:t>
                      </a:r>
                      <a:endParaRPr sz="4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7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05535" algn="l" rtl="0" eaLnBrk="0">
                        <a:lnSpc>
                          <a:spcPct val="97000"/>
                        </a:lnSpc>
                        <a:spcBef>
                          <a:spcPts val="845"/>
                        </a:spcBef>
                      </a:pPr>
                      <a:r>
                        <a:rPr sz="2800" b="1" kern="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//4.从磁盘逮取</a:t>
                      </a:r>
                      <a:r>
                        <a:rPr sz="2800" b="1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页面到触中</a:t>
                      </a:r>
                      <a:endParaRPr sz="2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1105535" indent="-5080" algn="l" rtl="0" eaLnBrk="0">
                        <a:lnSpc>
                          <a:spcPct val="103000"/>
                        </a:lnSpc>
                        <a:spcBef>
                          <a:spcPts val="15"/>
                        </a:spcBef>
                      </a:pPr>
                      <a:r>
                        <a:rPr sz="2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disk</a:t>
                      </a:r>
                      <a:r>
                        <a:rPr sz="28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2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manager</a:t>
                      </a:r>
                      <a:r>
                        <a:rPr sz="28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_-&gt;</a:t>
                      </a:r>
                      <a:r>
                        <a:rPr sz="2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ReadPage</a:t>
                      </a:r>
                      <a:r>
                        <a:rPr sz="28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2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page</a:t>
                      </a:r>
                      <a:r>
                        <a:rPr sz="28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2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id</a:t>
                      </a:r>
                      <a:r>
                        <a:rPr sz="28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,</a:t>
                      </a:r>
                      <a:r>
                        <a:rPr sz="2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pages</a:t>
                      </a:r>
                      <a:r>
                        <a:rPr sz="28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_[</a:t>
                      </a:r>
                      <a:r>
                        <a:rPr sz="2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frame</a:t>
                      </a:r>
                      <a:r>
                        <a:rPr sz="28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2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id</a:t>
                      </a:r>
                      <a:r>
                        <a:rPr sz="28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].</a:t>
                      </a:r>
                      <a:r>
                        <a:rPr sz="2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GetData</a:t>
                      </a:r>
                      <a:r>
                        <a:rPr sz="28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());</a:t>
                      </a:r>
                      <a:r>
                        <a:rPr sz="2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                       </a:t>
                      </a:r>
                      <a:r>
                        <a:rPr sz="28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//5</a:t>
                      </a:r>
                      <a:r>
                        <a:rPr sz="2800" kern="0" spc="-7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28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.</a:t>
                      </a:r>
                      <a:r>
                        <a:rPr sz="2800" kern="0" spc="-8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28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更新元数据和</a:t>
                      </a:r>
                      <a:r>
                        <a:rPr sz="28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2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Page</a:t>
                      </a:r>
                      <a:r>
                        <a:rPr sz="2800" b="1" kern="0" spc="6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8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对象</a:t>
                      </a:r>
                      <a:endParaRPr sz="28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1100455" algn="l" rtl="0" eaLnBrk="0">
                        <a:lnSpc>
                          <a:spcPct val="78000"/>
                        </a:lnSpc>
                        <a:spcBef>
                          <a:spcPts val="230"/>
                        </a:spcBef>
                      </a:pPr>
                      <a:r>
                        <a:rPr sz="4100" b="1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page_table_-&gt;Insert(page_id,f</a:t>
                      </a:r>
                      <a:r>
                        <a:rPr sz="4100" b="1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rame_id);</a:t>
                      </a:r>
                      <a:endParaRPr sz="41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marL="1100455" algn="l" rtl="0" eaLnBrk="0">
                        <a:lnSpc>
                          <a:spcPct val="91000"/>
                        </a:lnSpc>
                        <a:spcBef>
                          <a:spcPts val="145"/>
                        </a:spcBef>
                      </a:pPr>
                      <a:r>
                        <a:rPr sz="2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//.</a:t>
                      </a:r>
                      <a:endParaRPr sz="2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100455" algn="l" rtl="0" eaLnBrk="0">
                        <a:lnSpc>
                          <a:spcPts val="4865"/>
                        </a:lnSpc>
                      </a:pPr>
                      <a:r>
                        <a:rPr sz="3400" b="1" kern="0" spc="-90" dirty="0">
                          <a:solidFill>
                            <a:srgbClr val="30308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ret</a:t>
                      </a:r>
                      <a:r>
                        <a:rPr sz="3400" b="1" kern="0" spc="-9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urn</a:t>
                      </a:r>
                      <a:r>
                        <a:rPr sz="3400" b="1" kern="0" spc="79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3400" b="1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&amp;pages_[f</a:t>
                      </a:r>
                      <a:r>
                        <a:rPr sz="34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rame_id];</a:t>
                      </a:r>
                      <a:endParaRPr sz="3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 rot="21600000">
            <a:off x="20834322" y="5264097"/>
            <a:ext cx="9880559" cy="3823699"/>
            <a:chOff x="0" y="0"/>
            <a:chExt cx="9880559" cy="3823699"/>
          </a:xfrm>
        </p:grpSpPr>
        <p:sp>
          <p:nvSpPr>
            <p:cNvPr id="192" name="textbox 192"/>
            <p:cNvSpPr/>
            <p:nvPr/>
          </p:nvSpPr>
          <p:spPr>
            <a:xfrm>
              <a:off x="0" y="0"/>
              <a:ext cx="9880600" cy="3823970"/>
            </a:xfrm>
            <a:prstGeom prst="rect">
              <a:avLst/>
            </a:prstGeom>
            <a:solidFill>
              <a:srgbClr val="C7DFC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165" algn="l" rtl="0" eaLnBrk="0">
                <a:lnSpc>
                  <a:spcPct val="86000"/>
                </a:lnSpc>
              </a:pPr>
              <a:r>
                <a:rPr sz="28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/</a:t>
              </a:r>
              <a:r>
                <a:rPr sz="2800" kern="0" spc="-6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28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/</a:t>
              </a:r>
              <a:r>
                <a:rPr sz="2800" kern="0" spc="-4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28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1</a:t>
              </a:r>
              <a:r>
                <a:rPr sz="2800" kern="0" spc="-4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28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.</a:t>
              </a:r>
              <a:r>
                <a:rPr sz="2800" kern="0" spc="-4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28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尝</a:t>
              </a:r>
              <a:r>
                <a:rPr sz="2800" kern="0" spc="-5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28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试</a:t>
              </a:r>
              <a:r>
                <a:rPr sz="2800" kern="0" spc="-6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28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在 </a:t>
              </a:r>
              <a:r>
                <a:rPr sz="2800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page</a:t>
              </a:r>
              <a:r>
                <a:rPr sz="2800" u="dotted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800" kern="0" spc="-122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800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tabl</a:t>
              </a:r>
              <a:r>
                <a:rPr sz="2800" kern="0" spc="-1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e</a:t>
              </a:r>
              <a:r>
                <a:rPr sz="2800" u="dotted" kern="0" spc="-1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2800" kern="0" spc="49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</a:t>
              </a:r>
              <a:r>
                <a:rPr sz="2800" b="1" kern="0" spc="-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中查拐</a:t>
              </a:r>
              <a:endParaRPr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21715" algn="l" rtl="0" eaLnBrk="0">
                <a:lnSpc>
                  <a:spcPct val="86000"/>
                </a:lnSpc>
                <a:spcBef>
                  <a:spcPts val="850"/>
                </a:spcBef>
              </a:pPr>
              <a:r>
                <a:rPr sz="2800" kern="0" spc="2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//风画在疆冲港中(继存邱中)</a:t>
              </a:r>
              <a:endParaRPr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165" algn="l" rtl="0" eaLnBrk="0">
                <a:lnSpc>
                  <a:spcPct val="97000"/>
                </a:lnSpc>
                <a:spcBef>
                  <a:spcPts val="5"/>
                </a:spcBef>
              </a:pPr>
              <a:r>
                <a:rPr sz="4300" kern="0" spc="-1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}</a:t>
              </a:r>
              <a:endParaRPr sz="43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4" name="textbox 194"/>
            <p:cNvSpPr/>
            <p:nvPr/>
          </p:nvSpPr>
          <p:spPr>
            <a:xfrm>
              <a:off x="1009543" y="1418440"/>
              <a:ext cx="6544944" cy="10407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7000"/>
                </a:lnSpc>
              </a:pPr>
              <a:r>
                <a:rPr sz="3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pages</a:t>
              </a:r>
              <a:r>
                <a:rPr sz="3100" u="dotted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3100" kern="0" spc="-6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[frame</a:t>
              </a:r>
              <a:r>
                <a:rPr sz="3100" u="dotted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3100" kern="0" spc="-6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id].p</a:t>
              </a:r>
              <a:r>
                <a:rPr sz="31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</a:t>
              </a:r>
              <a:r>
                <a:rPr sz="3100" u="dotted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3100" kern="0" spc="-7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1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count</a:t>
              </a:r>
              <a:r>
                <a:rPr sz="3100" u="dotted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3100" kern="0" spc="-7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1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++;</a:t>
              </a:r>
              <a:endParaRPr sz="3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7000"/>
                </a:lnSpc>
                <a:spcBef>
                  <a:spcPts val="15"/>
                </a:spcBef>
              </a:pPr>
              <a:r>
                <a:rPr sz="3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replacer</a:t>
              </a:r>
              <a:r>
                <a:rPr sz="3100" u="dotted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3100" kern="0" spc="-7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1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-&gt;</a:t>
              </a:r>
              <a:r>
                <a:rPr sz="3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RecordAccess</a:t>
              </a:r>
              <a:r>
                <a:rPr sz="31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3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frame</a:t>
              </a:r>
              <a:r>
                <a:rPr sz="3100" u="dotted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3100" kern="0" spc="-6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id</a:t>
              </a:r>
              <a:r>
                <a:rPr sz="31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);</a:t>
              </a:r>
              <a:endParaRPr sz="3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6" name="textbox 196"/>
            <p:cNvSpPr/>
            <p:nvPr/>
          </p:nvSpPr>
          <p:spPr>
            <a:xfrm>
              <a:off x="1009541" y="2277568"/>
              <a:ext cx="8475344" cy="11252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5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2000"/>
                </a:lnSpc>
              </a:pPr>
              <a:r>
                <a:rPr sz="3700" kern="0" spc="-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replacer_-&gt;SetEvictable(frame_id,</a:t>
              </a:r>
              <a:r>
                <a:rPr sz="3700" kern="0" spc="9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700" kern="0" spc="-50" dirty="0">
                  <a:solidFill>
                    <a:srgbClr val="20306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false</a:t>
              </a:r>
              <a:r>
                <a:rPr sz="3700" kern="0" spc="-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);</a:t>
              </a:r>
              <a:r>
                <a:rPr sz="3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400" kern="0" spc="-20" dirty="0">
                  <a:solidFill>
                    <a:srgbClr val="20304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</a:t>
              </a:r>
              <a:r>
                <a:rPr sz="3400" kern="0" spc="360" dirty="0">
                  <a:solidFill>
                    <a:srgbClr val="20304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34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&amp;pages_[frame_id];</a:t>
              </a:r>
              <a:endParaRPr sz="3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8" name="textbox 198"/>
            <p:cNvSpPr/>
            <p:nvPr/>
          </p:nvSpPr>
          <p:spPr>
            <a:xfrm>
              <a:off x="164955" y="429668"/>
              <a:ext cx="8986519" cy="6661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5045"/>
                </a:lnSpc>
              </a:pPr>
              <a:r>
                <a:rPr sz="3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if   (page_table</a:t>
              </a:r>
              <a:r>
                <a:rPr sz="37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_-&gt;Find(page_id,frame_id)){</a:t>
              </a:r>
              <a:endParaRPr sz="3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00" name="textbox 200"/>
          <p:cNvSpPr/>
          <p:nvPr/>
        </p:nvSpPr>
        <p:spPr>
          <a:xfrm>
            <a:off x="546735" y="2140585"/>
            <a:ext cx="18707100" cy="1453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r>
              <a:rPr sz="8800" b="1" kern="0" spc="-70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代码解析</a:t>
            </a:r>
            <a:r>
              <a:rPr sz="8800" b="1" kern="0" spc="-7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sz="8800" b="1" kern="0" spc="-12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8800" b="1" kern="0" spc="-7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r>
              <a:rPr sz="8800" b="1" kern="0" spc="-18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8800" b="1" kern="0" spc="-7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zh-CN" altLang="en-US" sz="8800" b="1" kern="0" spc="-7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  <a:r>
              <a:rPr sz="8800" b="1" kern="0" spc="-5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FetchPglmp</a:t>
            </a:r>
            <a:r>
              <a:rPr sz="88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()</a:t>
            </a:r>
            <a:r>
              <a:rPr sz="8800" b="1" kern="0" spc="4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8800" b="1" kern="0" spc="-5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获取页面</a:t>
            </a:r>
            <a:endParaRPr sz="8800" b="1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20999277" y="10221264"/>
            <a:ext cx="4878704" cy="666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045"/>
              </a:lnSpc>
            </a:pPr>
            <a:r>
              <a:rPr sz="37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</a:t>
            </a:r>
            <a:r>
              <a:rPr sz="37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7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(Ifree_list_.empty()){</a:t>
            </a:r>
            <a:endParaRPr sz="3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21843863" y="10778438"/>
            <a:ext cx="6410959" cy="570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5000"/>
              </a:lnSpc>
            </a:pP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</a:t>
            </a:r>
            <a:r>
              <a:rPr sz="3100" u="dotted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100" kern="0" spc="-7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</a:t>
            </a:r>
            <a:r>
              <a:rPr sz="31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=free</a:t>
            </a:r>
            <a:r>
              <a:rPr sz="3100" u="dotted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tist</a:t>
            </a:r>
            <a:r>
              <a:rPr sz="3100" u="dotted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100" kern="0" spc="-5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,front();</a:t>
            </a:r>
            <a:endParaRPr sz="3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21843863" y="11121440"/>
            <a:ext cx="4890770" cy="744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655"/>
              </a:lnSpc>
            </a:pPr>
            <a:r>
              <a:rPr sz="41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free_list_.pop_front();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19240572" y="2831236"/>
            <a:ext cx="6189979" cy="485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  <a:spcBef>
                <a:spcPts val="0"/>
              </a:spcBef>
            </a:pPr>
            <a:r>
              <a:rPr sz="3700" b="1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FetchPglmp()Impl</a:t>
            </a:r>
            <a:r>
              <a:rPr sz="3700" b="1" kern="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ementation</a:t>
            </a:r>
            <a:endParaRPr sz="3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9792919" y="10579721"/>
            <a:ext cx="2127250" cy="11188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635"/>
              </a:lnSpc>
            </a:pPr>
            <a:r>
              <a:rPr lang="en-US" sz="3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b="1" kern="0" spc="-2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free_list</a:t>
            </a:r>
            <a:endParaRPr sz="3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94030" algn="l" rtl="0" eaLnBrk="0">
              <a:lnSpc>
                <a:spcPct val="98000"/>
              </a:lnSpc>
              <a:spcBef>
                <a:spcPts val="330"/>
              </a:spcBef>
            </a:pPr>
            <a:r>
              <a:rPr sz="3100" b="1"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非空?</a:t>
            </a:r>
            <a:endParaRPr sz="3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21843863" y="12257258"/>
            <a:ext cx="5582920" cy="432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8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//2b.   </a:t>
            </a:r>
            <a:r>
              <a:rPr sz="28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尝试从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replacer</a:t>
            </a:r>
            <a:r>
              <a:rPr sz="2800" kern="0" spc="2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28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驱违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21843862" y="12609340"/>
            <a:ext cx="385445" cy="1544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4100" kern="0" spc="150" dirty="0">
                <a:solidFill>
                  <a:srgbClr val="302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if</a:t>
            </a:r>
            <a:endParaRPr sz="41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7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41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sz="4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10709415" y="5879821"/>
            <a:ext cx="616584" cy="480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3700" b="1" kern="0" spc="-160" dirty="0">
                <a:solidFill>
                  <a:srgbClr val="80303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3700" b="1" kern="0" spc="-140" dirty="0">
                <a:solidFill>
                  <a:srgbClr val="80303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</a:t>
            </a:r>
            <a:endParaRPr sz="3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12501230" y="10590161"/>
            <a:ext cx="616584" cy="480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3700" b="1" kern="0" spc="-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3700" b="1" kern="0" spc="-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</a:t>
            </a:r>
            <a:endParaRPr sz="3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20186729" y="18610453"/>
            <a:ext cx="196214" cy="483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605"/>
              </a:lnSpc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sz="2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26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27" name="图片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05" y="362897"/>
            <a:ext cx="5647573" cy="1554597"/>
          </a:xfrm>
          <a:prstGeom prst="rect">
            <a:avLst/>
          </a:prstGeom>
        </p:spPr>
      </p:pic>
      <p:pic>
        <p:nvPicPr>
          <p:cNvPr id="28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67134" y="-102790"/>
            <a:ext cx="5202172" cy="2449022"/>
          </a:xfrm>
          <a:prstGeom prst="rect">
            <a:avLst/>
          </a:prstGeom>
        </p:spPr>
      </p:pic>
      <p:sp>
        <p:nvSpPr>
          <p:cNvPr id="29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实验一</a:t>
            </a:r>
            <a:endParaRPr sz="7110" b="1" dirty="0"/>
          </a:p>
        </p:txBody>
      </p:sp>
      <p:cxnSp>
        <p:nvCxnSpPr>
          <p:cNvPr id="30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31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可扩展哈希</a:t>
            </a:r>
            <a:endParaRPr sz="5400" dirty="0"/>
          </a:p>
        </p:txBody>
      </p:sp>
      <p:sp>
        <p:nvSpPr>
          <p:cNvPr id="32" name="文本框 36"/>
          <p:cNvSpPr txBox="1"/>
          <p:nvPr/>
        </p:nvSpPr>
        <p:spPr>
          <a:xfrm>
            <a:off x="17292714" y="784019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5400" b="1" dirty="0"/>
              <a:t>LRU_K</a:t>
            </a:r>
            <a:r>
              <a:rPr lang="zh-CN" altLang="en-US" sz="5400" b="1" dirty="0"/>
              <a:t>置换</a:t>
            </a:r>
            <a:endParaRPr lang="en-US" sz="5400" b="1" dirty="0"/>
          </a:p>
        </p:txBody>
      </p:sp>
      <p:sp>
        <p:nvSpPr>
          <p:cNvPr id="33" name="文本框 36"/>
          <p:cNvSpPr txBox="1"/>
          <p:nvPr/>
        </p:nvSpPr>
        <p:spPr>
          <a:xfrm>
            <a:off x="22840641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缓冲池管理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861263" y="19558555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11</a:t>
            </a:r>
            <a:endParaRPr lang="zh-CN" altLang="en-US" sz="3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E7B422-CC0A-E4FE-1222-AF4E38D0AC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7102" y="3408248"/>
            <a:ext cx="15375512" cy="161503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6404550" cy="203200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21600000">
            <a:off x="2558875" y="3886200"/>
            <a:ext cx="13373211" cy="15113000"/>
            <a:chOff x="0" y="0"/>
            <a:chExt cx="13373211" cy="15113000"/>
          </a:xfrm>
        </p:grpSpPr>
        <p:pic>
          <p:nvPicPr>
            <p:cNvPr id="226" name="picture 2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3373211" cy="15113000"/>
            </a:xfrm>
            <a:prstGeom prst="rect">
              <a:avLst/>
            </a:prstGeom>
          </p:spPr>
        </p:pic>
        <p:sp>
          <p:nvSpPr>
            <p:cNvPr id="228" name="textbox 228"/>
            <p:cNvSpPr/>
            <p:nvPr/>
          </p:nvSpPr>
          <p:spPr>
            <a:xfrm>
              <a:off x="997162" y="447853"/>
              <a:ext cx="11786234" cy="144189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463415" algn="l" rtl="0" eaLnBrk="0">
                <a:lnSpc>
                  <a:spcPct val="81000"/>
                </a:lnSpc>
              </a:pPr>
              <a:r>
                <a:rPr sz="34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NewPglmp()</a:t>
              </a:r>
              <a:endParaRPr sz="3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596765" algn="l" rtl="0" eaLnBrk="0">
                <a:lnSpc>
                  <a:spcPct val="95000"/>
                </a:lnSpc>
                <a:spcBef>
                  <a:spcPts val="1020"/>
                </a:spcBef>
              </a:pPr>
              <a:r>
                <a:rPr sz="3400" b="1" kern="0" spc="10" dirty="0" err="1">
                  <a:solidFill>
                    <a:srgbClr val="20506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获取空</a:t>
              </a:r>
              <a:r>
                <a:rPr lang="zh-CN" altLang="en-US" sz="3400" b="1" kern="0" spc="10" dirty="0">
                  <a:solidFill>
                    <a:srgbClr val="20506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白</a:t>
              </a:r>
              <a:r>
                <a:rPr sz="3400" b="1" kern="0" spc="10" dirty="0">
                  <a:solidFill>
                    <a:srgbClr val="20506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帧</a:t>
              </a:r>
              <a:endParaRPr sz="3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98065" algn="l" rtl="0" eaLnBrk="0">
                <a:lnSpc>
                  <a:spcPts val="2000"/>
                </a:lnSpc>
                <a:spcBef>
                  <a:spcPts val="940"/>
                </a:spcBef>
              </a:pPr>
              <a:r>
                <a:rPr sz="31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Yes</a:t>
              </a:r>
              <a:endParaRPr sz="3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74465" algn="l" rtl="0" eaLnBrk="0">
                <a:lnSpc>
                  <a:spcPct val="107000"/>
                </a:lnSpc>
                <a:spcBef>
                  <a:spcPts val="5"/>
                </a:spcBef>
              </a:pPr>
              <a:r>
                <a:rPr lang="en-US" sz="3800" b="1" kern="0" spc="-17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en-US" sz="3800" b="1" kern="0" spc="-17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sz="3800" b="1" kern="0" spc="-17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ree</a:t>
              </a:r>
              <a:r>
                <a:rPr lang="en-US" sz="3800" b="1" u="dotted" kern="0" spc="-17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_</a:t>
              </a:r>
              <a:r>
                <a:rPr sz="3800" b="1" kern="0" spc="-17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list</a:t>
              </a:r>
              <a:r>
                <a:rPr sz="3800" b="1" u="dotted" kern="0" spc="-2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sz="3800" b="1" kern="0" spc="-176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sz="3800" kern="0" spc="-170" dirty="0" err="1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非空</a:t>
              </a:r>
              <a:endParaRPr sz="3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15000"/>
                </a:lnSpc>
                <a:spcBef>
                  <a:spcPts val="1180"/>
                </a:spcBef>
              </a:pPr>
              <a:r>
                <a:rPr sz="6000" kern="0" spc="-110" baseline="6000" dirty="0" err="1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从</a:t>
              </a:r>
              <a:r>
                <a:rPr sz="6000" b="1" kern="0" spc="-110" baseline="600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free</a:t>
              </a:r>
              <a:r>
                <a:rPr lang="en-US" sz="3900" b="1" u="dotted" kern="0" spc="-110" baseline="600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_</a:t>
              </a:r>
              <a:r>
                <a:rPr sz="6000" b="1" kern="0" spc="-110" baseline="600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list</a:t>
              </a:r>
              <a:r>
                <a:rPr sz="6000" kern="0" spc="-110" baseline="6000" dirty="0" err="1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获取帧</a:t>
              </a:r>
              <a:r>
                <a:rPr sz="3900" kern="0" spc="-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      </a:t>
              </a:r>
              <a:r>
                <a:rPr lang="en-US" sz="3900" kern="0" spc="-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</a:t>
              </a:r>
              <a:r>
                <a:rPr sz="3400" b="1" kern="0" spc="-11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replacer</a:t>
              </a:r>
              <a:r>
                <a:rPr lang="en-US" sz="3400" b="1" kern="0" spc="-11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:</a:t>
              </a:r>
              <a:r>
                <a:rPr sz="3400" b="1" kern="0" spc="-11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Evict</a:t>
              </a:r>
              <a:r>
                <a:rPr sz="3400" b="1" kern="0" spc="-1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()</a:t>
              </a:r>
              <a:endParaRPr sz="3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lang="zh-CN" altLang="en-US"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5720"/>
                </a:lnSpc>
                <a:spcBef>
                  <a:spcPts val="1030"/>
                </a:spcBef>
              </a:pPr>
              <a:r>
                <a:rPr sz="5200" b="1" kern="0" spc="10" baseline="19000" dirty="0" err="1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成功获取帧</a:t>
              </a:r>
              <a:r>
                <a:rPr sz="5200" kern="0" spc="10" baseline="190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?</a:t>
              </a:r>
              <a:r>
                <a:rPr sz="3300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lang="en-US" sz="3300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3300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</a:t>
              </a:r>
              <a:r>
                <a:rPr sz="5200" kern="0" spc="0" baseline="490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No</a:t>
              </a:r>
              <a:r>
                <a:rPr sz="33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</a:t>
              </a:r>
              <a:r>
                <a:rPr sz="3400" b="1" kern="0" spc="10" dirty="0" err="1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返回</a:t>
              </a:r>
              <a:r>
                <a:rPr sz="3400" b="1" kern="0" spc="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nullptr</a:t>
              </a:r>
              <a:endParaRPr sz="3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543550" algn="l" rtl="0" eaLnBrk="0">
                <a:lnSpc>
                  <a:spcPct val="76000"/>
                </a:lnSpc>
                <a:spcBef>
                  <a:spcPts val="1030"/>
                </a:spcBef>
              </a:pPr>
              <a:r>
                <a:rPr sz="3400" kern="0" spc="-6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↓Yes</a:t>
              </a:r>
              <a:endParaRPr sz="3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110865" algn="l" rtl="0" eaLnBrk="0">
                <a:lnSpc>
                  <a:spcPct val="95000"/>
                </a:lnSpc>
                <a:spcBef>
                  <a:spcPts val="1020"/>
                </a:spcBef>
              </a:pPr>
              <a:r>
                <a:rPr sz="3400" b="1" kern="0" spc="140" dirty="0" err="1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处理</a:t>
              </a:r>
              <a:r>
                <a:rPr lang="zh-CN" altLang="en-US" sz="3400" b="1" kern="0" spc="1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被</a:t>
              </a:r>
              <a:r>
                <a:rPr sz="3400" b="1" kern="0" spc="140" dirty="0" err="1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驱逐的脏页</a:t>
              </a:r>
              <a:r>
                <a:rPr sz="3400" b="1" kern="0" spc="1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(若有</a:t>
              </a:r>
              <a:r>
                <a:rPr sz="3400" b="1" kern="0" spc="1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)</a:t>
              </a:r>
              <a:endParaRPr sz="3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68830" algn="l" rtl="0" eaLnBrk="0">
                <a:lnSpc>
                  <a:spcPct val="91000"/>
                </a:lnSpc>
                <a:spcBef>
                  <a:spcPts val="940"/>
                </a:spcBef>
              </a:pPr>
              <a:r>
                <a:rPr lang="en-US" sz="3100" b="1" kern="0" spc="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</a:t>
              </a:r>
              <a:r>
                <a:rPr sz="3100" b="1" kern="0" spc="50" dirty="0" err="1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调用</a:t>
              </a:r>
              <a:r>
                <a:rPr sz="3100" b="1" kern="0" spc="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AllocatePage</a:t>
              </a:r>
              <a:r>
                <a:rPr sz="3100" b="1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()</a:t>
              </a:r>
              <a:r>
                <a:rPr sz="3100" b="1" kern="0" spc="4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3100" b="1" kern="0" spc="50" dirty="0" err="1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获取新</a:t>
              </a:r>
              <a:r>
                <a:rPr sz="3100" b="1" kern="0" spc="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page</a:t>
              </a:r>
              <a:r>
                <a:rPr sz="3100" b="1" kern="0" spc="5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3100" b="1" kern="0" spc="0" dirty="0" err="1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id</a:t>
              </a:r>
              <a:endParaRPr sz="3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3815" algn="l" rtl="0" eaLnBrk="0">
                <a:lnSpc>
                  <a:spcPct val="94000"/>
                </a:lnSpc>
                <a:spcBef>
                  <a:spcPts val="1020"/>
                </a:spcBef>
              </a:pPr>
              <a:r>
                <a:rPr lang="en-US" sz="3400" b="1" kern="0" spc="-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</a:t>
              </a:r>
              <a:r>
                <a:rPr sz="3400" b="1" kern="0" spc="-50" dirty="0" err="1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初始化元数据</a:t>
              </a:r>
              <a:r>
                <a:rPr sz="3400" kern="0" spc="-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3400" b="1" kern="0" spc="-5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en-US" sz="3400" b="1" kern="0" spc="-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page</a:t>
              </a:r>
              <a:r>
                <a:rPr lang="en-US" sz="3400" b="1" u="dotted" kern="0" spc="-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_</a:t>
              </a:r>
              <a:r>
                <a:rPr lang="en-US" sz="3400" kern="0" spc="-149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sz="3400" b="1" kern="0" spc="-5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table</a:t>
              </a:r>
              <a:r>
                <a:rPr lang="en-US" sz="3400" b="1" u="dotted" kern="0" spc="-5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sz="3400" b="1" kern="0" spc="-5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replacer</a:t>
              </a:r>
              <a:r>
                <a:rPr lang="en-US" sz="3400" b="1" u="dotted" kern="0" spc="-5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sz="3400" b="1" kern="0" spc="-5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pi</a:t>
              </a:r>
              <a:r>
                <a:rPr lang="en-US" sz="3400" b="1" kern="0" spc="-6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sz="3400" b="1" u="dotted" kern="0" spc="-6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_</a:t>
              </a:r>
              <a:r>
                <a:rPr lang="en-US" sz="3400" b="1" kern="0" spc="-60" dirty="0" err="1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count</a:t>
              </a:r>
              <a:r>
                <a:rPr lang="en-US" sz="3400" b="1" kern="0" spc="-6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=1</a:t>
              </a:r>
              <a:r>
                <a:rPr sz="3400" b="1" kern="0" spc="-6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sz="3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177665" algn="l" rtl="0" eaLnBrk="0">
                <a:lnSpc>
                  <a:spcPct val="95000"/>
                </a:lnSpc>
                <a:spcBef>
                  <a:spcPts val="5"/>
                </a:spcBef>
              </a:pPr>
              <a:r>
                <a:rPr sz="3400" b="1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返回新页画指针</a:t>
              </a:r>
              <a:endParaRPr sz="3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230" name="rect 230"/>
          <p:cNvSpPr/>
          <p:nvPr/>
        </p:nvSpPr>
        <p:spPr>
          <a:xfrm>
            <a:off x="20910410" y="7188200"/>
            <a:ext cx="13081244" cy="5213298"/>
          </a:xfrm>
          <a:prstGeom prst="rect">
            <a:avLst/>
          </a:prstGeom>
          <a:solidFill>
            <a:srgbClr val="3D8CD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2" name="textbox 232"/>
          <p:cNvSpPr/>
          <p:nvPr/>
        </p:nvSpPr>
        <p:spPr>
          <a:xfrm>
            <a:off x="20008708" y="5162295"/>
            <a:ext cx="14011275" cy="13362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815"/>
              </a:lnSpc>
            </a:pP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      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uto</a:t>
            </a:r>
            <a:r>
              <a:rPr sz="28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BufferPoolManagerInstance</a:t>
            </a:r>
            <a:r>
              <a:rPr sz="28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::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NewPgImp</a:t>
            </a:r>
            <a:r>
              <a:rPr sz="28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page</a:t>
            </a:r>
            <a:r>
              <a:rPr sz="28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</a:t>
            </a:r>
            <a:r>
              <a:rPr sz="28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_t</a:t>
            </a:r>
            <a:r>
              <a:rPr sz="2800" b="1" kern="0" spc="5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*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page</a:t>
            </a:r>
            <a:r>
              <a:rPr sz="28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</a:t>
            </a:r>
            <a:r>
              <a:rPr sz="28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)→&gt;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Page</a:t>
            </a:r>
            <a:r>
              <a:rPr sz="28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*{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0" algn="l" rtl="0" eaLnBrk="0">
              <a:lnSpc>
                <a:spcPts val="3245"/>
              </a:lnSpc>
            </a:pP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              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std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::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scoped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lock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lock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latch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_);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0" algn="l" rtl="0" eaLnBrk="0">
              <a:lnSpc>
                <a:spcPct val="80000"/>
              </a:lnSpc>
              <a:spcBef>
                <a:spcPts val="20"/>
              </a:spcBef>
            </a:pPr>
            <a:r>
              <a:rPr sz="26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sz="26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</a:t>
            </a:r>
            <a:r>
              <a:rPr sz="28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</a:t>
            </a:r>
            <a:r>
              <a:rPr sz="28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r>
              <a:rPr sz="2800" b="1" kern="0" spc="7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</a:t>
            </a:r>
            <a:r>
              <a:rPr sz="28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</a:t>
            </a:r>
            <a:r>
              <a:rPr sz="28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0" algn="l" rtl="0" eaLnBrk="0">
              <a:lnSpc>
                <a:spcPts val="3795"/>
              </a:lnSpc>
            </a:pP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        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bool</a:t>
            </a:r>
            <a:r>
              <a:rPr sz="2800" b="1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found</a:t>
            </a:r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</a:t>
            </a:r>
            <a:r>
              <a:rPr sz="2800" b="1" kern="0" spc="1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false</a:t>
            </a:r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0" algn="l" rtl="0" eaLnBrk="0">
              <a:lnSpc>
                <a:spcPct val="70000"/>
              </a:lnSpc>
              <a:spcBef>
                <a:spcPts val="20"/>
              </a:spcBef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96850" algn="l" rtl="0" eaLnBrk="0">
              <a:lnSpc>
                <a:spcPts val="4430"/>
              </a:lnSpc>
            </a:pPr>
            <a:r>
              <a:rPr sz="2400" kern="0" spc="1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3400" kern="0" spc="1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//1</a:t>
            </a:r>
            <a:r>
              <a:rPr sz="3400" kern="0" spc="-9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400" kern="0" spc="1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sz="3400" kern="0" spc="-8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400" kern="0" spc="1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雪从</a:t>
            </a:r>
            <a:r>
              <a:rPr sz="34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free</a:t>
            </a:r>
            <a:r>
              <a:rPr sz="3400" kern="0" spc="1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34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List</a:t>
            </a:r>
            <a:r>
              <a:rPr sz="3400" kern="0" spc="1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 </a:t>
            </a:r>
            <a:r>
              <a:rPr sz="3400" kern="0" spc="16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双</a:t>
            </a:r>
            <a:r>
              <a:rPr sz="3400" kern="0" spc="1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</a:t>
            </a:r>
            <a:endParaRPr sz="3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  <a:spcBef>
                <a:spcPts val="840"/>
              </a:spcBef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                    </a:t>
            </a:r>
            <a:r>
              <a:rPr sz="2800" kern="0" spc="-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}else        {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106000"/>
              </a:lnSpc>
              <a:spcBef>
                <a:spcPts val="15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                  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sz="2400" kern="0" spc="-57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sz="2400" kern="0" spc="-5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sz="2400" kern="0" spc="-4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sz="2400" kern="0" spc="-4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尝</a:t>
            </a:r>
            <a:r>
              <a:rPr sz="2400" kern="0" spc="-5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城</a:t>
            </a:r>
            <a:r>
              <a:rPr sz="2400" kern="0" spc="-5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</a:t>
            </a:r>
            <a:r>
              <a:rPr sz="2400" kern="0" spc="2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replacer</a:t>
            </a:r>
            <a:r>
              <a:rPr sz="2400" u="dotted" kern="0" spc="-1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阳逆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04000"/>
              </a:lnSpc>
              <a:spcBef>
                <a:spcPts val="30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                           </a:t>
            </a:r>
            <a:r>
              <a:rPr sz="28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if(replacer</a:t>
            </a:r>
            <a:r>
              <a:rPr sz="2800" u="dotted" kern="0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-7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-&gt;Evict(&amp;frame</a:t>
            </a:r>
            <a:r>
              <a:rPr sz="2800" u="dotted" kern="0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-6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id)){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7000"/>
              </a:lnSpc>
              <a:spcBef>
                <a:spcPts val="25"/>
              </a:spcBef>
            </a:pPr>
            <a:r>
              <a:rPr sz="3300" kern="0" spc="10" baseline="5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14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   </a:t>
            </a: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found</a:t>
            </a:r>
            <a:r>
              <a:rPr sz="2400" u="dotted" kern="0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franve</a:t>
            </a:r>
            <a:r>
              <a:rPr sz="2400" kern="0" spc="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</a:t>
            </a: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=true;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  <a:spcBef>
                <a:spcPts val="10"/>
              </a:spcBef>
            </a:pPr>
            <a:r>
              <a:rPr sz="3700" kern="0" spc="-50" baseline="8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15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         </a:t>
            </a:r>
            <a:r>
              <a:rPr sz="2800" kern="0" spc="-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sz="2800" kern="0" spc="-5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sz="2800" kern="0" spc="-3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sz="2800" kern="0" spc="-3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sz="2800" kern="0" spc="-5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处</a:t>
            </a:r>
            <a:r>
              <a:rPr sz="2800" kern="0" spc="-4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昵</a:t>
            </a:r>
            <a:r>
              <a:rPr sz="2800" kern="0" spc="-3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限</a:t>
            </a:r>
            <a:r>
              <a:rPr sz="2800" kern="0" spc="-5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</a:t>
            </a:r>
            <a:r>
              <a:rPr sz="2800" kern="0" spc="-34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门</a:t>
            </a:r>
            <a:r>
              <a:rPr sz="2800" kern="0" spc="-5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腔</a:t>
            </a:r>
            <a:r>
              <a:rPr sz="2800" kern="0" spc="-41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瓦</a:t>
            </a:r>
            <a:r>
              <a:rPr sz="2800" kern="0" spc="-3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15000"/>
              </a:lnSpc>
              <a:spcBef>
                <a:spcPts val="5"/>
              </a:spcBef>
            </a:pPr>
            <a:r>
              <a:rPr sz="3300" kern="0" spc="0" baseline="19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16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             </a:t>
            </a:r>
            <a:r>
              <a:rPr sz="28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page</a:t>
            </a:r>
            <a:r>
              <a:rPr sz="2800" u="dotted" kern="0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table</a:t>
            </a:r>
            <a:r>
              <a:rPr sz="2800" u="dotted" kern="0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-7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-&gt;Removetold</a:t>
            </a:r>
            <a:r>
              <a:rPr sz="2800" u="dotted" kern="0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-6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page</a:t>
            </a:r>
            <a:r>
              <a:rPr sz="2800" u="dotted" kern="0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-6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id);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  <a:spcBef>
                <a:spcPts val="105"/>
              </a:spcBef>
            </a:pP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17</a:t>
            </a:r>
            <a:endParaRPr sz="2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77000"/>
              </a:lnSpc>
              <a:spcBef>
                <a:spcPts val="1020"/>
              </a:spcBef>
            </a:pP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18</a:t>
            </a:r>
            <a:endParaRPr sz="2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77000"/>
              </a:lnSpc>
              <a:spcBef>
                <a:spcPts val="1215"/>
              </a:spcBef>
            </a:pP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19</a:t>
            </a:r>
            <a:endParaRPr sz="2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82000"/>
              </a:lnSpc>
              <a:spcBef>
                <a:spcPts val="925"/>
              </a:spcBef>
            </a:pPr>
            <a:r>
              <a:rPr sz="3300" kern="0" spc="240" baseline="8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kern="0" spc="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//3.如用没布空阉帧、逗回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nullptr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ts val="3370"/>
              </a:lnSpc>
            </a:pPr>
            <a:r>
              <a:rPr sz="3300" kern="0" spc="20" baseline="6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21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(!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found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france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){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spcBef>
                <a:spcPts val="255"/>
              </a:spcBef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23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return</a:t>
            </a:r>
            <a:r>
              <a:rPr sz="2800" b="1" kern="0" spc="1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nullp</a:t>
            </a:r>
            <a:r>
              <a:rPr sz="28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tr;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  <a:spcBef>
                <a:spcPts val="50"/>
              </a:spcBef>
            </a:pP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24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8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                                      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25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95000"/>
              </a:lnSpc>
              <a:spcBef>
                <a:spcPts val="410"/>
              </a:spcBef>
            </a:pPr>
            <a:r>
              <a:rPr sz="3300" kern="0" spc="-60" baseline="9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26</a:t>
            </a: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sz="2800" kern="0" spc="-3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sz="2800" kern="0" spc="-4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 . 分</a:t>
            </a:r>
            <a:r>
              <a:rPr sz="2800" kern="0" spc="-3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配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page</a:t>
            </a:r>
            <a:r>
              <a:rPr sz="2800" u="dotted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kern="0" spc="-1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id 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并设篮酬页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2000"/>
              </a:lnSpc>
              <a:spcBef>
                <a:spcPts val="30"/>
              </a:spcBef>
            </a:pP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27               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spage</a:t>
            </a:r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</a:t>
            </a:r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=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AllocatePage</a:t>
            </a:r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();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  <a:spcBef>
                <a:spcPts val="745"/>
              </a:spcBef>
            </a:pPr>
            <a:r>
              <a:rPr sz="3300" kern="0" spc="220" baseline="1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28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</a:t>
            </a:r>
            <a:r>
              <a:rPr sz="24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//5</a:t>
            </a:r>
            <a:r>
              <a:rPr sz="2400" kern="0" spc="-5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sz="2400" kern="0" spc="-6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4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巫断无觑悠用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Page</a:t>
            </a:r>
            <a:r>
              <a:rPr sz="2400" kern="0" spc="5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意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69000"/>
              </a:lnSpc>
              <a:spcBef>
                <a:spcPts val="15"/>
              </a:spcBef>
            </a:pPr>
            <a:r>
              <a:rPr sz="3300" kern="0" spc="-40" baseline="-5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30</a:t>
            </a:r>
            <a:r>
              <a:rPr sz="21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</a:t>
            </a:r>
            <a:r>
              <a:rPr sz="21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</a:t>
            </a:r>
            <a:r>
              <a:rPr sz="34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page_table_-&gt;Insert(epage_id,frame</a:t>
            </a:r>
            <a:r>
              <a:rPr sz="3400" b="1" kern="0" spc="-8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400" b="1" u="dotted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3400" b="1" kern="0" spc="-7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4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id);</a:t>
            </a:r>
            <a:endParaRPr sz="3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ts val="3875"/>
              </a:lnSpc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31                  </a:t>
            </a:r>
            <a:r>
              <a:rPr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replacer_-&gt;RecordAccess(f</a:t>
            </a: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rame_id);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  <a:spcBef>
                <a:spcPts val="730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33</a:t>
            </a: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//.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101000"/>
              </a:lnSpc>
              <a:spcBef>
                <a:spcPts val="35"/>
              </a:spcBef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34          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</a:t>
            </a:r>
            <a:r>
              <a:rPr sz="3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return  &amp;pages</a:t>
            </a:r>
            <a:r>
              <a:rPr sz="3100" u="dotted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100" kern="0" spc="-6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[frane</a:t>
            </a:r>
            <a:r>
              <a:rPr sz="3100" u="dotted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100" kern="0" spc="-6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id];</a:t>
            </a:r>
            <a:endParaRPr sz="3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5"/>
              </a:spcBef>
            </a:pP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35</a:t>
            </a: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1259840" y="2320290"/>
            <a:ext cx="19213195" cy="1336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r>
              <a:rPr sz="8800" b="1" kern="0" spc="7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代码解析(2):</a:t>
            </a:r>
            <a:r>
              <a:rPr sz="8800" b="1" kern="0" spc="-6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NewPglmp</a:t>
            </a:r>
            <a:r>
              <a:rPr sz="88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sz="88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88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sz="8800" b="1" kern="0" spc="69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88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创建新页面</a:t>
            </a:r>
            <a:endParaRPr sz="88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20008710" y="4226661"/>
            <a:ext cx="11392534" cy="586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6000"/>
              </a:lnSpc>
            </a:pPr>
            <a:r>
              <a:rPr lang="en-US" sz="3100" kern="0" spc="-8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r>
              <a:rPr sz="3100" kern="0" spc="-8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uffe</a:t>
            </a:r>
            <a:r>
              <a:rPr lang="en-US" sz="3100" kern="0" spc="-8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3100" kern="0" spc="-8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pool</a:t>
            </a:r>
            <a:r>
              <a:rPr lang="en-US" sz="3100" u="dotted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3100" kern="0" spc="-7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100" kern="0" spc="-8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manager</a:t>
            </a:r>
            <a:r>
              <a:rPr lang="en-US" sz="3100" u="dotted" kern="0" spc="73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3100" kern="0" spc="-8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instance</a:t>
            </a:r>
            <a:r>
              <a:rPr sz="3100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</a:t>
            </a:r>
            <a:r>
              <a:rPr sz="3100" b="1" kern="0" spc="-8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NewPg</a:t>
            </a:r>
            <a:r>
              <a:rPr sz="3100" b="1" kern="0" spc="-9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lmp</a:t>
            </a:r>
            <a:r>
              <a:rPr sz="3100" b="1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</a:t>
            </a:r>
            <a:r>
              <a:rPr lang="en-US" sz="3100" b="1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100" b="1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Implementation</a:t>
            </a:r>
            <a:endParaRPr sz="3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20008708" y="16755364"/>
            <a:ext cx="8935084" cy="589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435"/>
              </a:lnSpc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32                   </a:t>
            </a:r>
            <a:r>
              <a:rPr sz="31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replacer_-&gt;SetEvi</a:t>
            </a:r>
            <a:r>
              <a:rPr sz="31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ctable(frame_id,false)</a:t>
            </a:r>
            <a:r>
              <a:rPr sz="31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endParaRPr sz="3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20192916" y="7427265"/>
            <a:ext cx="5955665" cy="701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315"/>
              </a:lnSpc>
            </a:pPr>
            <a:r>
              <a:rPr sz="3700" kern="0" spc="0" baseline="12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</a:t>
            </a:r>
            <a:r>
              <a:rPr sz="39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if(ffre</a:t>
            </a:r>
            <a:r>
              <a:rPr sz="39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e_list_.enpty()){</a:t>
            </a:r>
            <a:endParaRPr sz="3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20192917" y="8012886"/>
            <a:ext cx="7715884" cy="518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6000"/>
              </a:lnSpc>
            </a:pPr>
            <a:r>
              <a:rPr sz="3700" kern="0" spc="-1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</a:t>
            </a:r>
            <a:r>
              <a:rPr sz="28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</a:t>
            </a:r>
            <a:r>
              <a:rPr sz="2800" u="dotted" kern="0" spc="-1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-5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             =free</a:t>
            </a:r>
            <a:r>
              <a:rPr sz="2800" u="dotted" kern="0" spc="-1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-6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list</a:t>
            </a:r>
            <a:r>
              <a:rPr sz="2800" u="dotted" kern="0" spc="2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-5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.front();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20192917" y="8332115"/>
            <a:ext cx="6306184" cy="614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635"/>
              </a:lnSpc>
            </a:pPr>
            <a:r>
              <a:rPr sz="3700" kern="0" spc="0" baseline="19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</a:t>
            </a:r>
            <a:r>
              <a:rPr sz="34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free_tist_.pop_front();</a:t>
            </a:r>
            <a:endParaRPr sz="3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20008710" y="8842267"/>
            <a:ext cx="5810884" cy="518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6000"/>
              </a:lnSpc>
            </a:pPr>
            <a:r>
              <a:rPr sz="3300" kern="0" spc="10" baseline="1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</a:t>
            </a:r>
            <a:r>
              <a:rPr sz="28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found</a:t>
            </a:r>
            <a:r>
              <a:rPr sz="2800" u="dotted" kern="0" spc="0" dirty="0">
                <a:solidFill>
                  <a:srgbClr val="FFFFFF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     =true;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33566124" y="19767080"/>
            <a:ext cx="2576829" cy="374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2700" algn="l" rtl="0" eaLnBrk="0">
              <a:lnSpc>
                <a:spcPct val="82000"/>
              </a:lnSpc>
            </a:pPr>
            <a:r>
              <a:rPr lang="zh-CN" sz="28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、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11874478" y="7383933"/>
            <a:ext cx="544830" cy="443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3400" kern="0" spc="-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34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</a:t>
            </a:r>
            <a:endParaRPr sz="3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21617495" y="12036755"/>
            <a:ext cx="135254" cy="384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60"/>
              </a:lnSpc>
            </a:pPr>
            <a:r>
              <a:rPr sz="1200" kern="0" spc="4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200" kern="0" spc="4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endParaRPr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15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16" name="图片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80" y="433205"/>
            <a:ext cx="5647573" cy="1554597"/>
          </a:xfrm>
          <a:prstGeom prst="rect">
            <a:avLst/>
          </a:prstGeom>
        </p:spPr>
      </p:pic>
      <p:pic>
        <p:nvPicPr>
          <p:cNvPr id="17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67134" y="-102790"/>
            <a:ext cx="5202172" cy="2449022"/>
          </a:xfrm>
          <a:prstGeom prst="rect">
            <a:avLst/>
          </a:prstGeom>
        </p:spPr>
      </p:pic>
      <p:sp>
        <p:nvSpPr>
          <p:cNvPr id="18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实验一</a:t>
            </a:r>
            <a:endParaRPr sz="7110" b="1" dirty="0"/>
          </a:p>
        </p:txBody>
      </p:sp>
      <p:cxnSp>
        <p:nvCxnSpPr>
          <p:cNvPr id="19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20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可扩展哈希</a:t>
            </a:r>
            <a:endParaRPr sz="5400" dirty="0"/>
          </a:p>
        </p:txBody>
      </p:sp>
      <p:sp>
        <p:nvSpPr>
          <p:cNvPr id="21" name="文本框 36"/>
          <p:cNvSpPr txBox="1"/>
          <p:nvPr/>
        </p:nvSpPr>
        <p:spPr>
          <a:xfrm>
            <a:off x="17292714" y="784019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5400" b="1" dirty="0"/>
              <a:t>LRU_K</a:t>
            </a:r>
            <a:r>
              <a:rPr lang="zh-CN" altLang="en-US" sz="5400" b="1" dirty="0"/>
              <a:t>置换</a:t>
            </a:r>
            <a:endParaRPr lang="en-US" sz="5400" b="1" dirty="0"/>
          </a:p>
        </p:txBody>
      </p:sp>
      <p:sp>
        <p:nvSpPr>
          <p:cNvPr id="22" name="文本框 36"/>
          <p:cNvSpPr txBox="1"/>
          <p:nvPr/>
        </p:nvSpPr>
        <p:spPr>
          <a:xfrm>
            <a:off x="22840641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缓冲池管理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12</a:t>
            </a:r>
            <a:endParaRPr lang="zh-CN" altLang="en-US" sz="3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6DA9B3-A890-131F-3881-8D0BFC9278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7723" y="4844044"/>
            <a:ext cx="14337529" cy="1379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 254"/>
          <p:cNvSpPr/>
          <p:nvPr/>
        </p:nvSpPr>
        <p:spPr>
          <a:xfrm>
            <a:off x="0" y="-102790"/>
            <a:ext cx="36404550" cy="20320000"/>
          </a:xfrm>
          <a:prstGeom prst="rect">
            <a:avLst/>
          </a:prstGeom>
          <a:solidFill>
            <a:srgbClr val="F6F2E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0" name="textbox 260"/>
          <p:cNvSpPr/>
          <p:nvPr/>
        </p:nvSpPr>
        <p:spPr>
          <a:xfrm>
            <a:off x="1949450" y="5184140"/>
            <a:ext cx="13970000" cy="11949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400" kern="0" spc="4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当上层执行引擎完成对页面的</a:t>
            </a:r>
            <a:r>
              <a:rPr sz="5400" kern="0" spc="38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操作后，会调用</a:t>
            </a:r>
            <a:r>
              <a:rPr sz="5400" kern="0" spc="-22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Unpin</a:t>
            </a:r>
            <a:r>
              <a:rPr sz="5400" kern="0" spc="-2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。</a:t>
            </a:r>
            <a:r>
              <a:rPr lang="en-US" altLang="zh-CN" sz="5400" kern="0" spc="-10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pin_count</a:t>
            </a:r>
            <a:r>
              <a:rPr sz="5400" kern="0" spc="-41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递减</a:t>
            </a:r>
            <a:r>
              <a:rPr sz="5400" kern="0" spc="-41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。</a:t>
            </a:r>
          </a:p>
          <a:p>
            <a:pPr marL="1270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5400" kern="0" spc="-410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270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5400" kern="0" spc="4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如果操作修改了页面，则更新</a:t>
            </a:r>
            <a:r>
              <a:rPr lang="zh-CN" altLang="en-US" sz="54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页</a:t>
            </a:r>
            <a:r>
              <a:rPr sz="5400" kern="0" spc="74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面的</a:t>
            </a:r>
            <a:r>
              <a:rPr sz="5400" kern="0" spc="-10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is_dirty_标志</a:t>
            </a:r>
            <a:r>
              <a:rPr sz="5400" kern="0" spc="-1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。</a:t>
            </a:r>
          </a:p>
          <a:p>
            <a:pPr marL="1270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761365" indent="-748665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tabLst>
                <a:tab pos="12313285" algn="l"/>
              </a:tabLst>
            </a:pPr>
            <a:r>
              <a:rPr sz="5400" kern="0" spc="-9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关键触发点</a:t>
            </a:r>
            <a:r>
              <a:rPr sz="5400" b="1" kern="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:</a:t>
            </a:r>
            <a:r>
              <a:rPr sz="5400" kern="0" spc="-10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当</a:t>
            </a:r>
            <a:r>
              <a:rPr sz="5400" kern="0" spc="-1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pi</a:t>
            </a:r>
            <a:r>
              <a:rPr lang="en-US" sz="5400" kern="0" spc="-1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n_</a:t>
            </a:r>
            <a:r>
              <a:rPr sz="5400" kern="0" spc="-1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coun</a:t>
            </a:r>
            <a:r>
              <a:rPr lang="en-US" sz="5400" kern="0" spc="-1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t</a:t>
            </a:r>
            <a:r>
              <a:rPr sz="5400" kern="0" spc="4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降至0</a:t>
            </a:r>
            <a:r>
              <a:rPr lang="zh-CN" altLang="en-US" sz="5400" kern="0" spc="4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时</a:t>
            </a:r>
            <a:r>
              <a:rPr sz="5400" kern="0" spc="40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页面成为可</a:t>
            </a:r>
            <a:r>
              <a:rPr lang="en-US" sz="5400" kern="0" spc="40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</a:t>
            </a:r>
          </a:p>
          <a:p>
            <a:pPr marL="761365" indent="-748665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tabLst>
                <a:tab pos="12313285" algn="l"/>
              </a:tabLst>
            </a:pPr>
            <a:r>
              <a:rPr sz="5400" kern="0" spc="40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驱逐的候选者</a:t>
            </a:r>
            <a:endParaRPr sz="5400" kern="0" spc="400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1680893" y="2356507"/>
            <a:ext cx="24017442" cy="13500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r>
              <a:rPr sz="8800" b="1" kern="0" spc="4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代码解析(3</a:t>
            </a:r>
            <a:r>
              <a:rPr lang="en-US" sz="8800" b="1" kern="0" spc="4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sz="8800" b="1" kern="0" spc="4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:</a:t>
            </a:r>
            <a:r>
              <a:rPr sz="8800" b="1" kern="0" spc="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UnpinPglmp</a:t>
            </a:r>
            <a:r>
              <a:rPr sz="8800" b="1" kern="0" spc="1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() 页面状态管理</a:t>
            </a:r>
            <a:endParaRPr sz="88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16503679" y="7487646"/>
            <a:ext cx="220345" cy="2669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040"/>
              </a:lnSpc>
            </a:pP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8415" algn="l" rtl="0" eaLnBrk="0">
              <a:lnSpc>
                <a:spcPct val="78000"/>
              </a:lnSpc>
              <a:spcBef>
                <a:spcPts val="900"/>
              </a:spcBef>
            </a:pP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endParaRPr sz="2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r" rtl="0" eaLnBrk="0">
              <a:lnSpc>
                <a:spcPts val="3765"/>
              </a:lnSpc>
              <a:spcBef>
                <a:spcPts val="1020"/>
              </a:spcBef>
            </a:pP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2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r" rtl="0" eaLnBrk="0">
              <a:lnSpc>
                <a:spcPct val="81000"/>
              </a:lnSpc>
              <a:spcBef>
                <a:spcPts val="1075"/>
              </a:spcBef>
            </a:pPr>
            <a:r>
              <a:rPr sz="3000" kern="0" spc="-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8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7000"/>
              </a:lnSpc>
            </a:pPr>
            <a:endParaRPr sz="3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16306731" y="12506490"/>
            <a:ext cx="384809" cy="1464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2900" kern="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2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78000"/>
              </a:lnSpc>
              <a:spcBef>
                <a:spcPts val="1555"/>
              </a:spcBef>
            </a:pPr>
            <a:r>
              <a:rPr sz="2900" kern="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15</a:t>
            </a:r>
            <a:endParaRPr sz="2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6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9000"/>
              </a:lnSpc>
            </a:pPr>
            <a:r>
              <a:rPr sz="3100" kern="0" spc="-1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3100" kern="0" spc="-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endParaRPr sz="31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16306730" y="16868139"/>
            <a:ext cx="492125" cy="1011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32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23</a:t>
            </a:r>
            <a:endParaRPr sz="3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1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32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24</a:t>
            </a:r>
            <a:endParaRPr sz="3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16509869" y="5407601"/>
            <a:ext cx="220345" cy="14522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2900" kern="0" spc="-20" dirty="0">
                <a:solidFill>
                  <a:srgbClr val="304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2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  <a:spcBef>
                <a:spcPts val="1280"/>
              </a:spcBef>
            </a:pPr>
            <a:r>
              <a:rPr sz="32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3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8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  <a:spcBef>
                <a:spcPts val="5"/>
              </a:spcBef>
            </a:pP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2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16306733" y="11395188"/>
            <a:ext cx="356234" cy="368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0000"/>
              </a:lnSpc>
            </a:pP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4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5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05" y="362897"/>
            <a:ext cx="5647573" cy="1554597"/>
          </a:xfrm>
          <a:prstGeom prst="rect">
            <a:avLst/>
          </a:prstGeom>
        </p:spPr>
      </p:pic>
      <p:pic>
        <p:nvPicPr>
          <p:cNvPr id="6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7134" y="-102790"/>
            <a:ext cx="5202172" cy="2449022"/>
          </a:xfrm>
          <a:prstGeom prst="rect">
            <a:avLst/>
          </a:prstGeom>
        </p:spPr>
      </p:pic>
      <p:sp>
        <p:nvSpPr>
          <p:cNvPr id="7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实验一</a:t>
            </a:r>
            <a:endParaRPr sz="7110" b="1" dirty="0"/>
          </a:p>
        </p:txBody>
      </p:sp>
      <p:cxnSp>
        <p:nvCxnSpPr>
          <p:cNvPr id="8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9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可扩展哈希</a:t>
            </a:r>
            <a:endParaRPr sz="5400" dirty="0"/>
          </a:p>
        </p:txBody>
      </p:sp>
      <p:sp>
        <p:nvSpPr>
          <p:cNvPr id="10" name="文本框 36"/>
          <p:cNvSpPr txBox="1"/>
          <p:nvPr/>
        </p:nvSpPr>
        <p:spPr>
          <a:xfrm>
            <a:off x="17292714" y="784019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5400" b="1" dirty="0"/>
              <a:t>LRU_K</a:t>
            </a:r>
            <a:r>
              <a:rPr lang="zh-CN" altLang="en-US" sz="5400" b="1" dirty="0"/>
              <a:t>置换</a:t>
            </a:r>
            <a:endParaRPr lang="en-US" sz="5400" b="1" dirty="0"/>
          </a:p>
        </p:txBody>
      </p:sp>
      <p:sp>
        <p:nvSpPr>
          <p:cNvPr id="11" name="文本框 36"/>
          <p:cNvSpPr txBox="1"/>
          <p:nvPr/>
        </p:nvSpPr>
        <p:spPr>
          <a:xfrm>
            <a:off x="22840641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缓冲池管理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13</a:t>
            </a:r>
            <a:endParaRPr lang="zh-CN" altLang="en-US" sz="36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E08D3E3-A852-DF3A-385B-5D316A2155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964" y="4385491"/>
            <a:ext cx="17916800" cy="13840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box 290"/>
          <p:cNvSpPr/>
          <p:nvPr/>
        </p:nvSpPr>
        <p:spPr>
          <a:xfrm>
            <a:off x="1504950" y="2352675"/>
            <a:ext cx="34305240" cy="260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88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项目验证：测试通过</a:t>
            </a:r>
            <a:endParaRPr sz="8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ct val="95000"/>
              </a:lnSpc>
              <a:spcBef>
                <a:spcPts val="0"/>
              </a:spcBef>
            </a:pPr>
            <a:r>
              <a:rPr sz="54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一个健壮的实现需要通过全面的测试套件来验证。我们实现的所有</a:t>
            </a:r>
            <a:r>
              <a:rPr sz="54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三个核心组件均已成功通过所有测试用例。</a:t>
            </a:r>
            <a:endParaRPr sz="5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6" name="textbox 296"/>
          <p:cNvSpPr/>
          <p:nvPr/>
        </p:nvSpPr>
        <p:spPr>
          <a:xfrm>
            <a:off x="3225849" y="8370316"/>
            <a:ext cx="10577194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905"/>
              </a:lnSpc>
            </a:pPr>
            <a:r>
              <a:rPr sz="36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OK]ExtendibleHashTableTest.InsertTest1(1</a:t>
            </a:r>
            <a:r>
              <a:rPr sz="3600" kern="0" spc="1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</a:t>
            </a:r>
            <a:r>
              <a:rPr sz="36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ms)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8" name="textbox 298"/>
          <p:cNvSpPr/>
          <p:nvPr/>
        </p:nvSpPr>
        <p:spPr>
          <a:xfrm>
            <a:off x="2101676" y="8883346"/>
            <a:ext cx="9893934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905"/>
              </a:lnSpc>
            </a:pPr>
            <a:r>
              <a:rPr sz="4000" kern="0" spc="0" baseline="-12000" dirty="0">
                <a:solidFill>
                  <a:srgbClr val="58782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RUN</a:t>
            </a:r>
            <a:r>
              <a:rPr sz="2600" kern="0" spc="0" dirty="0">
                <a:solidFill>
                  <a:srgbClr val="58782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2600" kern="0" spc="-10" dirty="0">
                <a:solidFill>
                  <a:srgbClr val="58782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3600" kern="0" spc="-10" dirty="0">
                <a:solidFill>
                  <a:srgbClr val="78B87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]</a:t>
            </a:r>
            <a:r>
              <a:rPr sz="3600" kern="0" spc="280" dirty="0">
                <a:solidFill>
                  <a:srgbClr val="78B87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6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ExtendibleHashTableTest.InsertTest2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15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17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62" y="331062"/>
            <a:ext cx="5647573" cy="1554597"/>
          </a:xfrm>
          <a:prstGeom prst="rect">
            <a:avLst/>
          </a:prstGeom>
        </p:spPr>
      </p:pic>
      <p:pic>
        <p:nvPicPr>
          <p:cNvPr id="18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7134" y="-102790"/>
            <a:ext cx="5202172" cy="2449022"/>
          </a:xfrm>
          <a:prstGeom prst="rect">
            <a:avLst/>
          </a:prstGeom>
        </p:spPr>
      </p:pic>
      <p:sp>
        <p:nvSpPr>
          <p:cNvPr id="19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实验一</a:t>
            </a:r>
            <a:endParaRPr sz="7110" b="1" dirty="0"/>
          </a:p>
        </p:txBody>
      </p:sp>
      <p:cxnSp>
        <p:nvCxnSpPr>
          <p:cNvPr id="20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21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/>
              <a:t>可扩展哈希</a:t>
            </a:r>
            <a:endParaRPr sz="5400" dirty="0"/>
          </a:p>
        </p:txBody>
      </p:sp>
      <p:sp>
        <p:nvSpPr>
          <p:cNvPr id="22" name="文本框 36"/>
          <p:cNvSpPr txBox="1"/>
          <p:nvPr/>
        </p:nvSpPr>
        <p:spPr>
          <a:xfrm>
            <a:off x="17292714" y="784019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5400" b="1" dirty="0"/>
              <a:t>LRU_K</a:t>
            </a:r>
            <a:r>
              <a:rPr lang="zh-CN" altLang="en-US" sz="5400" b="1" dirty="0"/>
              <a:t>置换</a:t>
            </a:r>
            <a:endParaRPr lang="en-US" sz="5400" b="1" dirty="0"/>
          </a:p>
        </p:txBody>
      </p:sp>
      <p:sp>
        <p:nvSpPr>
          <p:cNvPr id="23" name="文本框 36"/>
          <p:cNvSpPr txBox="1"/>
          <p:nvPr/>
        </p:nvSpPr>
        <p:spPr>
          <a:xfrm>
            <a:off x="22840641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缓冲池管理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14</a:t>
            </a:r>
            <a:endParaRPr lang="zh-CN" altLang="en-US" sz="3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89EAEC-EA4F-3A95-8D59-DA8066BD75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009" y="4960620"/>
            <a:ext cx="13855298" cy="754565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71D2664-5FA0-328A-1D4E-31AB7266B7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8723" y="5416173"/>
            <a:ext cx="16344956" cy="149038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CF9227D-4006-2B8C-847B-231DA7CD11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609" y="12853081"/>
            <a:ext cx="13782698" cy="71847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91"/>
            <a:ext cx="36404550" cy="20318819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843958" y="3136671"/>
            <a:ext cx="32355335" cy="17030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291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60414" y="4475223"/>
            <a:ext cx="24087573" cy="1323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210" algn="ctr" eaLnBrk="0">
              <a:lnSpc>
                <a:spcPct val="96000"/>
              </a:lnSpc>
            </a:pPr>
            <a:r>
              <a:rPr sz="8335" b="1" kern="0" spc="125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项目目标：为</a:t>
            </a:r>
            <a:r>
              <a:rPr sz="8335" b="1" kern="0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Bustub</a:t>
            </a:r>
            <a:r>
              <a:rPr sz="8335" b="1" kern="0" spc="125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数据</a:t>
            </a:r>
            <a:r>
              <a:rPr sz="8335" b="1" kern="0" spc="104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库构建高性能</a:t>
            </a:r>
            <a:r>
              <a:rPr sz="8335" b="1" kern="0" spc="104" dirty="0" err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B+</a:t>
            </a:r>
            <a:r>
              <a:rPr sz="8335" b="1" kern="0" spc="104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树索引</a:t>
            </a:r>
            <a:endParaRPr sz="833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7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8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30" y="433205"/>
            <a:ext cx="5647573" cy="1554597"/>
          </a:xfrm>
          <a:prstGeom prst="rect">
            <a:avLst/>
          </a:prstGeom>
        </p:spPr>
      </p:pic>
      <p:cxnSp>
        <p:nvCxnSpPr>
          <p:cNvPr id="11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12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树插入</a:t>
            </a:r>
            <a:endParaRPr lang="en-US" altLang="zh-CN" sz="5400" b="1" dirty="0"/>
          </a:p>
        </p:txBody>
      </p:sp>
      <p:sp>
        <p:nvSpPr>
          <p:cNvPr id="13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树删除</a:t>
            </a:r>
            <a:endParaRPr lang="en-US" altLang="zh-CN" sz="5400" b="1" dirty="0"/>
          </a:p>
        </p:txBody>
      </p:sp>
      <p:sp>
        <p:nvSpPr>
          <p:cNvPr id="14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树并发</a:t>
            </a:r>
            <a:endParaRPr lang="en-US" altLang="zh-CN" sz="5400" b="1" dirty="0"/>
          </a:p>
        </p:txBody>
      </p:sp>
      <p:pic>
        <p:nvPicPr>
          <p:cNvPr id="15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202" y="-96583"/>
            <a:ext cx="4613574" cy="2449023"/>
          </a:xfrm>
          <a:prstGeom prst="rect">
            <a:avLst/>
          </a:prstGeom>
        </p:spPr>
      </p:pic>
      <p:sp>
        <p:nvSpPr>
          <p:cNvPr id="10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>
                <a:solidFill>
                  <a:schemeClr val="bg1"/>
                </a:solidFill>
              </a:rPr>
              <a:t>实验二</a:t>
            </a:r>
            <a:endParaRPr sz="711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6"/>
          <p:cNvSpPr/>
          <p:nvPr/>
        </p:nvSpPr>
        <p:spPr>
          <a:xfrm>
            <a:off x="0" y="591"/>
            <a:ext cx="36404550" cy="20318819"/>
          </a:xfrm>
          <a:prstGeom prst="rect">
            <a:avLst/>
          </a:prstGeom>
          <a:solidFill>
            <a:srgbClr val="F1F3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3750"/>
          </a:p>
        </p:txBody>
      </p:sp>
      <p:sp>
        <p:nvSpPr>
          <p:cNvPr id="8" name="textbox 8"/>
          <p:cNvSpPr/>
          <p:nvPr/>
        </p:nvSpPr>
        <p:spPr>
          <a:xfrm>
            <a:off x="2022373" y="11741043"/>
            <a:ext cx="34010210" cy="6225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93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8800" b="1" kern="0" spc="83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系统架构</a:t>
            </a:r>
            <a:endParaRPr sz="8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210" kern="0" spc="187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B+</a:t>
            </a:r>
            <a:r>
              <a:rPr sz="5210" kern="0" spc="187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树索引是连接上层</a:t>
            </a:r>
            <a:r>
              <a:rPr sz="5210" kern="0" spc="167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查询与底层磁盘管理的关键组</a:t>
            </a:r>
            <a:endParaRPr sz="521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210" kern="0" spc="83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件，它依赖于项目一中实现的缓冲池管理器</a:t>
            </a:r>
            <a:r>
              <a:rPr sz="5210" kern="0" spc="62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5210" kern="0" spc="62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5210" kern="0" dirty="0">
                <a:solidFill>
                  <a:srgbClr val="000000">
                    <a:alpha val="100000"/>
                  </a:srgbClr>
                </a:solidFill>
                <a:latin typeface="Times New Roman Regular" panose="02020503050405090304" charset="0"/>
                <a:ea typeface="宋体" panose="02010600030101010101" pitchFamily="2" charset="-122"/>
                <a:cs typeface="Times New Roman Regular" panose="02020503050405090304" charset="0"/>
              </a:rPr>
              <a:t>Buffer</a:t>
            </a:r>
            <a:endParaRPr sz="5210" dirty="0">
              <a:latin typeface="Times New Roman Regular" panose="02020503050405090304" charset="0"/>
              <a:ea typeface="宋体" panose="02010600030101010101" pitchFamily="2" charset="-122"/>
              <a:cs typeface="Times New Roman Regular" panose="02020503050405090304" charset="0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210" kern="0" spc="-42" dirty="0">
                <a:solidFill>
                  <a:srgbClr val="000000">
                    <a:alpha val="100000"/>
                  </a:srgbClr>
                </a:solidFill>
                <a:latin typeface="Times New Roman Regular" panose="02020503050405090304" charset="0"/>
                <a:ea typeface="Times New Roman" panose="02020603050405020304"/>
                <a:cs typeface="Times New Roman Regular" panose="02020503050405090304" charset="0"/>
              </a:rPr>
              <a:t>Pool Manager</a:t>
            </a:r>
            <a:r>
              <a:rPr sz="5210" kern="0" spc="-42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521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5210" kern="0" spc="-42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来获取和管理内存页。</a:t>
            </a:r>
            <a:endParaRPr sz="521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6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62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eaLnBrk="0">
              <a:lnSpc>
                <a:spcPct val="83000"/>
              </a:lnSpc>
            </a:pPr>
            <a:endParaRPr sz="271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2170169" y="1708220"/>
            <a:ext cx="27254467" cy="449500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87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97000"/>
              </a:lnSpc>
              <a:spcBef>
                <a:spcPts val="10"/>
              </a:spcBef>
            </a:pPr>
            <a:r>
              <a:rPr sz="8800" b="1" kern="0" spc="125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核心任务</a:t>
            </a:r>
            <a:endParaRPr sz="8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2170329" y="5422539"/>
            <a:ext cx="15149159" cy="614062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85000"/>
              </a:lnSpc>
            </a:pPr>
            <a:r>
              <a:rPr sz="5000" kern="0" spc="125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实现一个功能完备且线程安全的</a:t>
            </a:r>
            <a:r>
              <a:rPr sz="5000" kern="0" spc="125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B+</a:t>
            </a:r>
            <a:r>
              <a:rPr sz="5000" kern="0" spc="-1354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0" kern="0" spc="125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树，分为两大里</a:t>
            </a:r>
            <a:endParaRPr sz="5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6670" eaLnBrk="0">
              <a:lnSpc>
                <a:spcPts val="8010"/>
              </a:lnSpc>
            </a:pPr>
            <a:r>
              <a:rPr sz="5000" kern="0" spc="-42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程碑：</a:t>
            </a:r>
          </a:p>
          <a:p>
            <a:pPr marL="712470" indent="-685800" eaLnBrk="0">
              <a:lnSpc>
                <a:spcPts val="8010"/>
              </a:lnSpc>
              <a:buFont typeface="Wingdings" panose="05000000000000000000" charset="0"/>
              <a:buChar char="Ø"/>
            </a:pPr>
            <a:r>
              <a:rPr sz="521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Checkpoint</a:t>
            </a:r>
            <a:r>
              <a:rPr sz="5210" kern="0" spc="83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1:</a:t>
            </a:r>
            <a:r>
              <a:rPr sz="5210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5210" kern="0" spc="83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单线程实现，包括页面布局、核</a:t>
            </a:r>
            <a:r>
              <a:rPr sz="5210" kern="0" spc="104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心的插入、删除和查找算法。</a:t>
            </a:r>
            <a:endParaRPr sz="521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85800" indent="-685800" algn="l" rtl="0" eaLnBrk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sz="521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Checkpoint</a:t>
            </a:r>
            <a:r>
              <a:rPr sz="521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2:</a:t>
            </a:r>
            <a:r>
              <a:rPr sz="5210" kern="0" spc="7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5210" kern="0" spc="104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多线程支</a:t>
            </a:r>
            <a:r>
              <a:rPr sz="5210" kern="0" spc="83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持，通过并发控制协议</a:t>
            </a:r>
            <a:r>
              <a:rPr sz="5210" kern="0" spc="104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确保数据一致性，并实现索引迭代</a:t>
            </a:r>
            <a:r>
              <a:rPr sz="5210" kern="0" spc="83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器。</a:t>
            </a:r>
            <a:endParaRPr sz="521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18863744" y="10080554"/>
            <a:ext cx="15305204" cy="2791194"/>
            <a:chOff x="0" y="0"/>
            <a:chExt cx="7346925" cy="1339851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7346925" cy="1339851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-12700" y="-12700"/>
              <a:ext cx="7372350" cy="13658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1000"/>
                </a:lnSpc>
              </a:pPr>
              <a:endParaRPr sz="208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2000"/>
                </a:lnSpc>
              </a:pPr>
              <a:endParaRPr sz="208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2000"/>
                </a:lnSpc>
              </a:pPr>
              <a:endParaRPr sz="208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2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89585" eaLnBrk="0">
                <a:lnSpc>
                  <a:spcPts val="5825"/>
                </a:lnSpc>
              </a:pPr>
              <a:r>
                <a:rPr sz="4165" kern="0" spc="-21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B+Tree</a:t>
              </a:r>
              <a:r>
                <a:rPr sz="4165" kern="0" spc="396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4165" kern="0" spc="-21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Index</a:t>
              </a:r>
              <a:r>
                <a:rPr sz="4165" kern="0" spc="21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       </a:t>
              </a:r>
              <a:r>
                <a:rPr sz="4165" kern="0" spc="-21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Buffer</a:t>
              </a:r>
              <a:r>
                <a:rPr sz="4165" kern="0" spc="1187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4165" kern="0" spc="-21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Pool    </a:t>
              </a:r>
              <a:r>
                <a:rPr sz="4165" kern="0" spc="-42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   Disk</a:t>
              </a:r>
              <a:r>
                <a:rPr sz="4165" kern="0" spc="292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4165" kern="0" spc="-42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Manager</a:t>
              </a:r>
              <a:endParaRPr sz="416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5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7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30" y="433205"/>
            <a:ext cx="5647573" cy="1554597"/>
          </a:xfrm>
          <a:prstGeom prst="rect">
            <a:avLst/>
          </a:prstGeom>
        </p:spPr>
      </p:pic>
      <p:cxnSp>
        <p:nvCxnSpPr>
          <p:cNvPr id="9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11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树插入</a:t>
            </a:r>
            <a:endParaRPr lang="en-US" altLang="zh-CN" sz="5400" b="1" dirty="0"/>
          </a:p>
        </p:txBody>
      </p:sp>
      <p:sp>
        <p:nvSpPr>
          <p:cNvPr id="13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树删除</a:t>
            </a:r>
            <a:endParaRPr lang="en-US" altLang="zh-CN" sz="5400" b="1" dirty="0"/>
          </a:p>
        </p:txBody>
      </p:sp>
      <p:sp>
        <p:nvSpPr>
          <p:cNvPr id="15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树并发</a:t>
            </a:r>
            <a:endParaRPr lang="en-US" altLang="zh-CN" sz="5400" b="1" dirty="0"/>
          </a:p>
        </p:txBody>
      </p:sp>
      <p:pic>
        <p:nvPicPr>
          <p:cNvPr id="17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202" y="-96583"/>
            <a:ext cx="4613574" cy="2414499"/>
          </a:xfrm>
          <a:prstGeom prst="rect">
            <a:avLst/>
          </a:prstGeom>
        </p:spPr>
      </p:pic>
      <p:sp>
        <p:nvSpPr>
          <p:cNvPr id="18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>
                <a:solidFill>
                  <a:schemeClr val="bg1"/>
                </a:solidFill>
              </a:rPr>
              <a:t>实验二</a:t>
            </a:r>
            <a:endParaRPr sz="7110" b="1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16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91"/>
            <a:ext cx="36404550" cy="20318819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957705" y="11014710"/>
            <a:ext cx="31356300" cy="8480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21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2538730" eaLnBrk="0">
              <a:lnSpc>
                <a:spcPts val="6530"/>
              </a:lnSpc>
            </a:pPr>
            <a:r>
              <a:rPr sz="4790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Page</a:t>
            </a:r>
            <a:r>
              <a:rPr sz="4790" kern="0" spc="6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4790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metadata</a:t>
            </a:r>
            <a:endParaRPr sz="479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581025" eaLnBrk="0">
              <a:lnSpc>
                <a:spcPts val="6530"/>
              </a:lnSpc>
              <a:spcBef>
                <a:spcPts val="240"/>
              </a:spcBef>
            </a:pPr>
            <a:r>
              <a:rPr sz="479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(page_id,p</a:t>
            </a:r>
            <a:r>
              <a:rPr sz="4790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in_count,is_dirty)</a:t>
            </a:r>
            <a:endParaRPr sz="479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17000"/>
              </a:lnSpc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17000"/>
              </a:lnSpc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17000"/>
              </a:lnSpc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36830" eaLnBrk="0">
              <a:lnSpc>
                <a:spcPct val="96000"/>
              </a:lnSpc>
              <a:spcBef>
                <a:spcPts val="1770"/>
              </a:spcBef>
            </a:pPr>
            <a:r>
              <a:rPr sz="6600" b="1" kern="0" spc="42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</a:rPr>
              <a:t>核心问题</a:t>
            </a:r>
            <a:endParaRPr sz="6600" dirty="0">
              <a:latin typeface="黑体" panose="02010609060101010101" charset="-122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26670" eaLnBrk="0">
              <a:lnSpc>
                <a:spcPct val="92000"/>
              </a:lnSpc>
              <a:spcBef>
                <a:spcPts val="1825"/>
              </a:spcBef>
            </a:pP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B+</a:t>
            </a:r>
            <a:r>
              <a:rPr sz="5400" kern="0" spc="-5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树的节点在逻辑上是树形结构，但在物理上必须存储在固定大小(</a:t>
            </a:r>
            <a:r>
              <a:rPr lang="en-US"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4KB</a:t>
            </a: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sz="5400" kern="0" spc="218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的内存页</a:t>
            </a:r>
            <a:r>
              <a:rPr sz="5400" kern="0" spc="-68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Page</a:t>
            </a: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  中。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 rtl="0" eaLnBrk="0">
              <a:lnSpc>
                <a:spcPct val="114000"/>
              </a:lnSpc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15000"/>
              </a:lnSpc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26670" eaLnBrk="0">
              <a:lnSpc>
                <a:spcPct val="95000"/>
              </a:lnSpc>
              <a:spcBef>
                <a:spcPts val="1770"/>
              </a:spcBef>
            </a:pPr>
            <a:r>
              <a:rPr sz="6600" b="1" kern="0" spc="42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</a:rPr>
              <a:t>实现方式</a:t>
            </a:r>
          </a:p>
          <a:p>
            <a:pPr marL="26670" eaLnBrk="0">
              <a:lnSpc>
                <a:spcPct val="120000"/>
              </a:lnSpc>
              <a:spcBef>
                <a:spcPts val="540"/>
              </a:spcBef>
            </a:pP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通过reinterpret_cast将 page—&gt;GetData() 得到的原始内存指针转换为特定类型的节点页面(如LeafPage 或 InternalPage), 从而在data_ 区域上建立结构化数据。</a:t>
            </a:r>
          </a:p>
        </p:txBody>
      </p:sp>
      <p:sp>
        <p:nvSpPr>
          <p:cNvPr id="22" name="textbox 22"/>
          <p:cNvSpPr/>
          <p:nvPr/>
        </p:nvSpPr>
        <p:spPr>
          <a:xfrm>
            <a:off x="11826136" y="3968384"/>
            <a:ext cx="18722151" cy="636947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21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14881860" eaLnBrk="0">
              <a:lnSpc>
                <a:spcPct val="80000"/>
              </a:lnSpc>
            </a:pPr>
            <a:r>
              <a:rPr sz="4790" b="1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Tree</a:t>
            </a:r>
            <a:r>
              <a:rPr sz="4790" b="1" kern="0" spc="33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4790" b="1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Page</a:t>
            </a:r>
            <a:endParaRPr sz="479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r" eaLnBrk="0">
              <a:lnSpc>
                <a:spcPct val="81000"/>
              </a:lnSpc>
              <a:spcBef>
                <a:spcPts val="2115"/>
              </a:spcBef>
            </a:pPr>
            <a:r>
              <a:rPr sz="4790" b="1" kern="0" spc="-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(Structured View)</a:t>
            </a:r>
            <a:endParaRPr sz="479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14470380" eaLnBrk="0">
              <a:lnSpc>
                <a:spcPct val="81000"/>
              </a:lnSpc>
              <a:spcBef>
                <a:spcPts val="3260"/>
              </a:spcBef>
            </a:pPr>
            <a:r>
              <a:rPr sz="4790" b="1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Header</a:t>
            </a:r>
            <a:r>
              <a:rPr sz="4790" b="1" kern="0" spc="7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4790" b="1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(24B)</a:t>
            </a:r>
            <a:endParaRPr sz="479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23000"/>
              </a:lnSpc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24000"/>
              </a:lnSpc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26670" eaLnBrk="0">
              <a:lnSpc>
                <a:spcPts val="6530"/>
              </a:lnSpc>
              <a:spcBef>
                <a:spcPts val="1450"/>
              </a:spcBef>
            </a:pPr>
            <a:r>
              <a:rPr sz="479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reinterpret_cast</a:t>
            </a:r>
            <a:r>
              <a:rPr sz="4790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&lt;...&gt;(page-&gt;GetData())</a:t>
            </a:r>
            <a:endParaRPr sz="479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78000"/>
              </a:lnSpc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16000"/>
              </a:lnSpc>
            </a:pPr>
            <a:endParaRPr sz="104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14681835" indent="-474980" eaLnBrk="0">
              <a:lnSpc>
                <a:spcPct val="90000"/>
              </a:lnSpc>
              <a:spcBef>
                <a:spcPts val="10"/>
              </a:spcBef>
            </a:pPr>
            <a:r>
              <a:rPr sz="4790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Tree</a:t>
            </a:r>
            <a:r>
              <a:rPr sz="4790" kern="0" spc="33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4790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Page</a:t>
            </a:r>
            <a:r>
              <a:rPr sz="4790" kern="0" spc="31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4790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Da</a:t>
            </a:r>
            <a:r>
              <a:rPr sz="4790" kern="0" spc="-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ta</a:t>
            </a:r>
            <a:r>
              <a:rPr sz="479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  </a:t>
            </a:r>
            <a:r>
              <a:rPr sz="4790" kern="0" spc="-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(4KB-24B)</a:t>
            </a:r>
            <a:endParaRPr sz="479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2047390" y="2458791"/>
            <a:ext cx="25020191" cy="140088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96000"/>
              </a:lnSpc>
            </a:pPr>
            <a:r>
              <a:rPr sz="8800" b="1" kern="0" spc="146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将抽象节点映射到物理内存页</a:t>
            </a:r>
            <a:endParaRPr sz="8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4576897" y="3987494"/>
            <a:ext cx="3964551" cy="460348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2895" eaLnBrk="0">
              <a:lnSpc>
                <a:spcPct val="81000"/>
              </a:lnSpc>
            </a:pPr>
            <a:r>
              <a:rPr sz="4790" b="1" kern="0" spc="-125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Page Object</a:t>
            </a:r>
            <a:endParaRPr sz="479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81000"/>
              </a:lnSpc>
              <a:spcBef>
                <a:spcPts val="2010"/>
              </a:spcBef>
            </a:pPr>
            <a:r>
              <a:rPr sz="4790" kern="0" spc="-42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4790" kern="0" spc="-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Logical</a:t>
            </a:r>
            <a:r>
              <a:rPr sz="4790" kern="0" spc="118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4790" kern="0" spc="-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View)</a:t>
            </a:r>
            <a:endParaRPr sz="479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10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4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0835" eaLnBrk="0">
              <a:lnSpc>
                <a:spcPts val="6530"/>
              </a:lnSpc>
            </a:pPr>
            <a:r>
              <a:rPr sz="4790" kern="0" spc="-21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data_(4KB</a:t>
            </a:r>
            <a:r>
              <a:rPr sz="4790" kern="0" spc="-42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479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33534167" y="19751605"/>
            <a:ext cx="2632451" cy="39552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271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4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5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30" y="433205"/>
            <a:ext cx="5647573" cy="1554597"/>
          </a:xfrm>
          <a:prstGeom prst="rect">
            <a:avLst/>
          </a:prstGeom>
        </p:spPr>
      </p:pic>
      <p:cxnSp>
        <p:nvCxnSpPr>
          <p:cNvPr id="6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7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树插入</a:t>
            </a:r>
            <a:endParaRPr lang="en-US" altLang="zh-CN" sz="5400" b="1" dirty="0"/>
          </a:p>
        </p:txBody>
      </p:sp>
      <p:sp>
        <p:nvSpPr>
          <p:cNvPr id="8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树删除</a:t>
            </a:r>
            <a:endParaRPr lang="en-US" altLang="zh-CN" sz="5400" b="1" dirty="0"/>
          </a:p>
        </p:txBody>
      </p:sp>
      <p:sp>
        <p:nvSpPr>
          <p:cNvPr id="9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树并发</a:t>
            </a:r>
            <a:endParaRPr lang="en-US" altLang="zh-CN" sz="5400" b="1" dirty="0"/>
          </a:p>
        </p:txBody>
      </p:sp>
      <p:pic>
        <p:nvPicPr>
          <p:cNvPr id="10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202" y="-96583"/>
            <a:ext cx="4613574" cy="2414499"/>
          </a:xfrm>
          <a:prstGeom prst="rect">
            <a:avLst/>
          </a:prstGeom>
        </p:spPr>
      </p:pic>
      <p:sp>
        <p:nvSpPr>
          <p:cNvPr id="11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>
                <a:solidFill>
                  <a:schemeClr val="bg1"/>
                </a:solidFill>
              </a:rPr>
              <a:t>实验二</a:t>
            </a:r>
            <a:endParaRPr sz="711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17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 30"/>
          <p:cNvSpPr/>
          <p:nvPr/>
        </p:nvSpPr>
        <p:spPr>
          <a:xfrm>
            <a:off x="0" y="591"/>
            <a:ext cx="36404550" cy="20318819"/>
          </a:xfrm>
          <a:prstGeom prst="rect">
            <a:avLst/>
          </a:prstGeom>
          <a:solidFill>
            <a:srgbClr val="F0F1E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3750"/>
          </a:p>
        </p:txBody>
      </p:sp>
      <p:sp>
        <p:nvSpPr>
          <p:cNvPr id="32" name="textbox 32"/>
          <p:cNvSpPr/>
          <p:nvPr/>
        </p:nvSpPr>
        <p:spPr>
          <a:xfrm>
            <a:off x="1483360" y="4650740"/>
            <a:ext cx="19311620" cy="1538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210" b="1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通用头部 </a:t>
            </a:r>
            <a:r>
              <a:rPr sz="5210" b="1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(</a:t>
            </a:r>
            <a:r>
              <a:rPr sz="5210" b="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Header</a:t>
            </a:r>
            <a:r>
              <a:rPr sz="5210" b="1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)</a:t>
            </a:r>
            <a:r>
              <a:rPr lang="en-US" sz="5210" b="1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5210" b="1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-</a:t>
            </a:r>
            <a:r>
              <a:rPr lang="en-US" sz="5210" b="1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5210" b="1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24</a:t>
            </a:r>
            <a:r>
              <a:rPr sz="5210" b="1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字节</a:t>
            </a:r>
            <a:endParaRPr sz="5210" b="1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36004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29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●</a:t>
            </a:r>
            <a:r>
              <a:rPr lang="en-US" sz="4585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4585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page_type_:</a:t>
            </a:r>
            <a:r>
              <a:rPr sz="4585" kern="0" spc="5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sz="4585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页面类型(</a:t>
            </a:r>
            <a:r>
              <a:rPr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内部页/叶子页)</a:t>
            </a:r>
            <a:endParaRPr sz="4585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36004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29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●</a:t>
            </a:r>
            <a:r>
              <a:rPr lang="en-US"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 </a:t>
            </a:r>
            <a:r>
              <a:rPr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size_:</a:t>
            </a:r>
            <a:r>
              <a:rPr sz="4585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   </a:t>
            </a:r>
            <a:r>
              <a:rPr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键值对数量</a:t>
            </a:r>
            <a:endParaRPr sz="4585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36004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29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●</a:t>
            </a:r>
            <a:r>
              <a:rPr lang="en-US"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 </a:t>
            </a:r>
            <a:r>
              <a:rPr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max_size_:</a:t>
            </a:r>
            <a:r>
              <a:rPr sz="4585" kern="0" spc="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   </a:t>
            </a:r>
            <a:r>
              <a:rPr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最大容量</a:t>
            </a:r>
            <a:endParaRPr sz="4585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36004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29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●</a:t>
            </a:r>
            <a:r>
              <a:rPr lang="en-US" sz="4585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4585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parent</a:t>
            </a:r>
            <a:r>
              <a:rPr lang="en-US" sz="4585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_</a:t>
            </a:r>
            <a:r>
              <a:rPr sz="4585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page</a:t>
            </a:r>
            <a:r>
              <a:rPr lang="en-US" sz="4585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_</a:t>
            </a:r>
            <a:r>
              <a:rPr sz="4585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id</a:t>
            </a:r>
            <a:r>
              <a:rPr lang="en-US" sz="4585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_</a:t>
            </a:r>
            <a:r>
              <a:rPr sz="4585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:</a:t>
            </a:r>
            <a:r>
              <a:rPr sz="5210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5210" kern="0" spc="-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 </a:t>
            </a:r>
            <a:r>
              <a:rPr sz="4585" kern="0" spc="-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父页面</a:t>
            </a:r>
            <a:r>
              <a:rPr sz="4585" kern="0" spc="-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ID</a:t>
            </a:r>
            <a:endParaRPr sz="521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647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210" b="1" kern="0" spc="18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数据区</a:t>
            </a:r>
            <a:r>
              <a:rPr sz="5210" kern="0" spc="-41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210" b="1" kern="0" spc="18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(</a:t>
            </a:r>
            <a:r>
              <a:rPr sz="5210" b="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Data</a:t>
            </a:r>
            <a:r>
              <a:rPr sz="5210" b="1" kern="0" spc="18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 </a:t>
            </a:r>
            <a:r>
              <a:rPr sz="5210" b="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Area</a:t>
            </a:r>
            <a:r>
              <a:rPr sz="5210" b="1" kern="0" spc="18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)</a:t>
            </a:r>
            <a:endParaRPr sz="521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36004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29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●</a:t>
            </a:r>
            <a:r>
              <a:rPr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叶子页 </a:t>
            </a:r>
            <a:r>
              <a:rPr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(Le</a:t>
            </a:r>
            <a:r>
              <a:rPr sz="4585" kern="0" spc="-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af</a:t>
            </a:r>
            <a:r>
              <a:rPr sz="4585" kern="0" spc="68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4585" kern="0" spc="-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Page):</a:t>
            </a:r>
            <a:r>
              <a:rPr lang="en-US" sz="4585" kern="0" spc="-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4585" kern="0" spc="-12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4585" kern="0" spc="-12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sz="4585" kern="0" spc="-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头部为28字节(额外包含</a:t>
            </a:r>
            <a:endParaRPr sz="4585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99504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4585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next_page_id_),  </a:t>
            </a:r>
            <a:r>
              <a:rPr sz="4585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剩余空间存储有序的</a:t>
            </a:r>
            <a:r>
              <a:rPr sz="4585" kern="0" spc="-37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4585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(Key,RID)</a:t>
            </a:r>
            <a:r>
              <a:rPr sz="4585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对。</a:t>
            </a:r>
            <a:endParaRPr sz="4585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889000" indent="-52895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29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●</a:t>
            </a:r>
            <a:r>
              <a:rPr sz="4585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内部页 </a:t>
            </a:r>
            <a:r>
              <a:rPr sz="4585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(Internal  Page):</a:t>
            </a:r>
            <a:r>
              <a:rPr sz="4585" kern="0" spc="-97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4585" kern="0" spc="-97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sz="4585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头部为24字节，剩余空间存储</a:t>
            </a:r>
            <a:r>
              <a:rPr sz="4585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有序的</a:t>
            </a:r>
            <a:r>
              <a:rPr sz="4585" kern="0" spc="-35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4585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(</a:t>
            </a:r>
            <a:r>
              <a:rPr sz="4585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Key</a:t>
            </a:r>
            <a:r>
              <a:rPr sz="4585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,</a:t>
            </a:r>
            <a:r>
              <a:rPr sz="4585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PagelD</a:t>
            </a:r>
            <a:r>
              <a:rPr sz="4585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) </a:t>
            </a:r>
            <a:r>
              <a:rPr sz="4585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对。</a:t>
            </a:r>
            <a:endParaRPr sz="4585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17208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625" b="1" kern="0" spc="-33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关键技术</a:t>
            </a:r>
            <a:r>
              <a:rPr lang="en-US" sz="5625" b="1" kern="0" spc="-33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: </a:t>
            </a:r>
            <a:r>
              <a:rPr sz="5625" kern="0" spc="-33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Flexibl</a:t>
            </a:r>
            <a:r>
              <a:rPr sz="5625" kern="0" spc="-35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Array</a:t>
            </a:r>
            <a:endParaRPr sz="5625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6129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4585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内部页和叶子页类中定义了一</a:t>
            </a:r>
            <a:r>
              <a:rPr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</a:t>
            </a:r>
            <a:r>
              <a:rPr sz="4585" kern="0" spc="-79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MappingType  array_[1]</a:t>
            </a:r>
            <a:r>
              <a:rPr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成员。这是一种利用</a:t>
            </a:r>
            <a:r>
              <a:rPr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sz="4585" kern="0" spc="-81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458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特性创建</a:t>
            </a:r>
            <a:r>
              <a:rPr sz="4585" kern="0" spc="-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变长数组的技巧，</a:t>
            </a:r>
            <a:r>
              <a:rPr sz="4585" kern="0" spc="-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array_</a:t>
            </a:r>
            <a:r>
              <a:rPr sz="4585" kern="0" spc="-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会自动占据头部之后所有剩余的内存</a:t>
            </a:r>
            <a:r>
              <a:rPr sz="4585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空间，动态地存储所有键值</a:t>
            </a:r>
            <a:r>
              <a:rPr lang="zh-CN" altLang="en-US" sz="4585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对</a:t>
            </a:r>
            <a:r>
              <a:rPr sz="5210" kern="0" spc="-33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。</a:t>
            </a:r>
            <a:endParaRPr sz="521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21284648" y="4099044"/>
          <a:ext cx="13888493" cy="13586885"/>
        </p:xfrm>
        <a:graphic>
          <a:graphicData uri="http://schemas.openxmlformats.org/drawingml/2006/table">
            <a:tbl>
              <a:tblPr/>
              <a:tblGrid>
                <a:gridCol w="6118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0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5868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"/>
                        </a:lnSpc>
                      </a:pPr>
                      <a:endParaRPr sz="4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textbox 38"/>
          <p:cNvSpPr/>
          <p:nvPr/>
        </p:nvSpPr>
        <p:spPr>
          <a:xfrm>
            <a:off x="1483566" y="3176877"/>
            <a:ext cx="33437418" cy="122891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r>
              <a:rPr sz="8800" b="1" kern="0" spc="146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Header与数据区的布局  </a:t>
            </a:r>
            <a:r>
              <a:rPr sz="8800" kern="0" spc="-21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</a:t>
            </a:r>
            <a:endParaRPr sz="8800" baseline="4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33534168" y="19741842"/>
            <a:ext cx="2664197" cy="41140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291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4491" y="3483628"/>
            <a:ext cx="14895176" cy="1481580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5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6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30" y="433205"/>
            <a:ext cx="5647573" cy="1554597"/>
          </a:xfrm>
          <a:prstGeom prst="rect">
            <a:avLst/>
          </a:prstGeom>
        </p:spPr>
      </p:pic>
      <p:cxnSp>
        <p:nvCxnSpPr>
          <p:cNvPr id="7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8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树插入</a:t>
            </a:r>
            <a:endParaRPr lang="en-US" altLang="zh-CN" sz="5400" b="1" dirty="0"/>
          </a:p>
        </p:txBody>
      </p:sp>
      <p:sp>
        <p:nvSpPr>
          <p:cNvPr id="9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树删除</a:t>
            </a:r>
            <a:endParaRPr lang="en-US" altLang="zh-CN" sz="5400" b="1" dirty="0"/>
          </a:p>
        </p:txBody>
      </p:sp>
      <p:sp>
        <p:nvSpPr>
          <p:cNvPr id="10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树并发</a:t>
            </a:r>
            <a:endParaRPr lang="en-US" altLang="zh-CN" sz="5400" b="1" dirty="0"/>
          </a:p>
        </p:txBody>
      </p:sp>
      <p:pic>
        <p:nvPicPr>
          <p:cNvPr id="11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202" y="-96583"/>
            <a:ext cx="4613574" cy="2414499"/>
          </a:xfrm>
          <a:prstGeom prst="rect">
            <a:avLst/>
          </a:prstGeom>
        </p:spPr>
      </p:pic>
      <p:sp>
        <p:nvSpPr>
          <p:cNvPr id="12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>
                <a:solidFill>
                  <a:schemeClr val="bg1"/>
                </a:solidFill>
              </a:rPr>
              <a:t>实验二</a:t>
            </a:r>
            <a:endParaRPr sz="711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18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 42"/>
          <p:cNvSpPr/>
          <p:nvPr/>
        </p:nvSpPr>
        <p:spPr>
          <a:xfrm>
            <a:off x="0" y="591"/>
            <a:ext cx="36404550" cy="20318819"/>
          </a:xfrm>
          <a:prstGeom prst="rect">
            <a:avLst/>
          </a:prstGeom>
          <a:solidFill>
            <a:srgbClr val="EDF2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3750"/>
          </a:p>
        </p:txBody>
      </p:sp>
      <p:sp>
        <p:nvSpPr>
          <p:cNvPr id="44" name="textbox 44"/>
          <p:cNvSpPr/>
          <p:nvPr/>
        </p:nvSpPr>
        <p:spPr>
          <a:xfrm>
            <a:off x="2419847" y="13991923"/>
            <a:ext cx="20130975" cy="5718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kern="0" spc="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叶子页</a:t>
            </a:r>
            <a:r>
              <a:rPr sz="6000" kern="0" spc="-646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6000" b="1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6000" b="1" kern="0" dirty="0">
                <a:solidFill>
                  <a:srgbClr val="000000">
                    <a:alpha val="100000"/>
                  </a:srgbClr>
                </a:solidFill>
                <a:latin typeface="Times New Roman Bold" panose="02020803070505020304" pitchFamily="18" charset="0"/>
                <a:ea typeface="Arial" panose="020B0604020202020204"/>
                <a:cs typeface="Times New Roman Bold" panose="02020803070505020304" pitchFamily="18" charset="0"/>
              </a:rPr>
              <a:t>Leaf</a:t>
            </a:r>
            <a:r>
              <a:rPr sz="6000" b="1" kern="0" spc="250" dirty="0">
                <a:solidFill>
                  <a:srgbClr val="000000">
                    <a:alpha val="100000"/>
                  </a:srgbClr>
                </a:solidFill>
                <a:latin typeface="Times New Roman Bold" panose="02020803070505020304" pitchFamily="18" charset="0"/>
                <a:ea typeface="Arial" panose="020B0604020202020204"/>
                <a:cs typeface="Times New Roman Bold" panose="02020803070505020304" pitchFamily="18" charset="0"/>
              </a:rPr>
              <a:t> </a:t>
            </a:r>
            <a:r>
              <a:rPr sz="6000" b="1" kern="0" dirty="0">
                <a:solidFill>
                  <a:srgbClr val="000000">
                    <a:alpha val="100000"/>
                  </a:srgbClr>
                </a:solidFill>
                <a:latin typeface="Times New Roman Bold" panose="02020803070505020304" pitchFamily="18" charset="0"/>
                <a:ea typeface="Arial" panose="020B0604020202020204"/>
                <a:cs typeface="Times New Roman Bold" panose="02020803070505020304" pitchFamily="18" charset="0"/>
              </a:rPr>
              <a:t>Page</a:t>
            </a:r>
            <a:r>
              <a:rPr sz="6000" b="1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):</a:t>
            </a:r>
            <a:r>
              <a:rPr sz="6000" b="1" kern="0" spc="1125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0" b="1" kern="0" spc="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数据存储</a:t>
            </a:r>
          </a:p>
          <a:p>
            <a:pPr marL="712470" indent="-68580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角色：存储所有实际的键值对。</a:t>
            </a:r>
          </a:p>
          <a:p>
            <a:pPr marL="685800" indent="-68580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内容：存</a:t>
            </a:r>
            <a:r>
              <a:rPr lang="en-US" altLang="zh-CN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lang="zh-CN" altLang="en-US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储</a:t>
            </a:r>
            <a:r>
              <a:rPr lang="en-US" altLang="zh-CN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m </a:t>
            </a:r>
            <a:r>
              <a:rPr lang="zh-CN" altLang="en-US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个键和</a:t>
            </a:r>
            <a:r>
              <a:rPr lang="en-US" altLang="zh-CN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m </a:t>
            </a:r>
            <a:r>
              <a:rPr lang="zh-CN" altLang="en-US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</a:t>
            </a:r>
            <a:r>
              <a:rPr lang="en-US" altLang="zh-CN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lang="zh-CN" altLang="en-US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值</a:t>
            </a:r>
            <a:r>
              <a:rPr lang="en-US" altLang="zh-CN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(</a:t>
            </a:r>
            <a:r>
              <a:rPr lang="zh-CN" altLang="en-US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指向真实元组位置</a:t>
            </a:r>
            <a:r>
              <a:rPr lang="en-US" altLang="zh-CN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zh-CN" altLang="en-US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。</a:t>
            </a:r>
          </a:p>
          <a:p>
            <a:pPr marL="685800" indent="-68580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特性：键必须唯一。所有叶子页通过</a:t>
            </a:r>
            <a:r>
              <a:rPr lang="en-US" altLang="zh-CN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next_page_id</a:t>
            </a:r>
            <a:r>
              <a:rPr lang="zh-CN" altLang="en-US" sz="5415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指针连接成一个双向链表，以支持高效的范围扫描。</a:t>
            </a:r>
          </a:p>
          <a:p>
            <a:pPr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5415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2121289" y="4679815"/>
            <a:ext cx="17864951" cy="592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ts val="10280"/>
              </a:lnSpc>
            </a:pPr>
            <a:r>
              <a:rPr sz="6000" b="1" kern="0" spc="42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内部页</a:t>
            </a:r>
            <a:r>
              <a:rPr sz="6000" kern="0" spc="-646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6000" b="1" kern="0" spc="42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6000" b="1" kern="0" dirty="0">
                <a:solidFill>
                  <a:srgbClr val="000000">
                    <a:alpha val="100000"/>
                  </a:srgbClr>
                </a:solidFill>
                <a:latin typeface="Times New Roman Bold" panose="02020803070505020304" pitchFamily="18" charset="0"/>
                <a:ea typeface="Arial" panose="020B0604020202020204"/>
                <a:cs typeface="Times New Roman Bold" panose="02020803070505020304" pitchFamily="18" charset="0"/>
              </a:rPr>
              <a:t>Internal</a:t>
            </a:r>
            <a:r>
              <a:rPr sz="6000" b="1" kern="0" spc="333" dirty="0">
                <a:solidFill>
                  <a:srgbClr val="000000">
                    <a:alpha val="100000"/>
                  </a:srgbClr>
                </a:solidFill>
                <a:latin typeface="Times New Roman Bold" panose="02020803070505020304" pitchFamily="18" charset="0"/>
                <a:ea typeface="Arial" panose="020B0604020202020204"/>
                <a:cs typeface="Times New Roman Bold" panose="02020803070505020304" pitchFamily="18" charset="0"/>
              </a:rPr>
              <a:t> </a:t>
            </a:r>
            <a:r>
              <a:rPr sz="6000" b="1" kern="0" dirty="0">
                <a:solidFill>
                  <a:srgbClr val="000000">
                    <a:alpha val="100000"/>
                  </a:srgbClr>
                </a:solidFill>
                <a:latin typeface="Times New Roman Bold" panose="02020803070505020304" pitchFamily="18" charset="0"/>
                <a:ea typeface="Arial" panose="020B0604020202020204"/>
                <a:cs typeface="Times New Roman Bold" panose="02020803070505020304" pitchFamily="18" charset="0"/>
              </a:rPr>
              <a:t>Page</a:t>
            </a:r>
            <a:r>
              <a:rPr sz="6000" b="1" kern="0" spc="42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):</a:t>
            </a:r>
            <a:r>
              <a:rPr sz="6000" b="1" kern="0" spc="937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0" b="1" kern="0" spc="42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导航</a:t>
            </a:r>
          </a:p>
          <a:p>
            <a:pPr marL="712470" indent="-68580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5415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角色：不存储实际数据，只作为索引</a:t>
            </a:r>
            <a:r>
              <a:rPr sz="5415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。</a:t>
            </a:r>
          </a:p>
          <a:p>
            <a:pPr marL="712470" indent="-68580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54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内容：存储</a:t>
            </a:r>
            <a:r>
              <a:rPr lang="en-US" sz="54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sz="54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54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个键和</a:t>
            </a:r>
            <a:r>
              <a:rPr sz="5415" kern="0" spc="-118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m+1</a:t>
            </a:r>
            <a:r>
              <a:rPr sz="54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个子页面指针 </a:t>
            </a:r>
            <a:r>
              <a:rPr sz="54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(page</a:t>
            </a:r>
            <a:r>
              <a:rPr lang="en-US" sz="54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sz="5415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id)。</a:t>
            </a:r>
            <a:endParaRPr sz="5415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85800" indent="-685800" algn="l" rtl="0" eaLnBrk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5415" kern="0" spc="16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逻辑：</a:t>
            </a:r>
            <a:r>
              <a:rPr sz="5415" kern="0" spc="16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5415" kern="0" spc="-6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5415" kern="0" spc="16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个键将搜索空间划分为</a:t>
            </a:r>
            <a:r>
              <a:rPr sz="5415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n+1</a:t>
            </a:r>
            <a:r>
              <a:rPr sz="5415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个区间。为简</a:t>
            </a:r>
            <a:r>
              <a:rPr sz="5415" kern="0" spc="2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化实现，第一个键无</a:t>
            </a:r>
            <a:r>
              <a:rPr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效，查找从第二个键开始</a:t>
            </a:r>
            <a:r>
              <a:rPr lang="en-US"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（</a:t>
            </a:r>
            <a:r>
              <a:rPr lang="zh-CN" altLang="en-US"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为了保持数组索引对齐（第</a:t>
            </a:r>
            <a:r>
              <a:rPr lang="en-US" altLang="zh-CN"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i</a:t>
            </a:r>
            <a:r>
              <a:rPr lang="zh-CN" altLang="en-US"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</a:t>
            </a:r>
            <a:r>
              <a:rPr lang="en-US" altLang="zh-CN"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Key</a:t>
            </a:r>
            <a:r>
              <a:rPr lang="zh-CN" altLang="en-US"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对应第</a:t>
            </a:r>
            <a:r>
              <a:rPr lang="en-US" altLang="zh-CN"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i</a:t>
            </a:r>
            <a:r>
              <a:rPr lang="zh-CN" altLang="en-US"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</a:t>
            </a:r>
            <a:r>
              <a:rPr lang="en-US" altLang="zh-CN"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Value/Pointer</a:t>
            </a:r>
            <a:r>
              <a:rPr lang="zh-CN" altLang="en-US"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），虽然浪费了一个</a:t>
            </a:r>
            <a:r>
              <a:rPr lang="en-US" altLang="zh-CN"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Key</a:t>
            </a:r>
            <a:r>
              <a:rPr lang="zh-CN" altLang="en-US"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的空间，但简化了二分查找的下标计算逻辑</a:t>
            </a:r>
            <a:r>
              <a:rPr lang="en-US" altLang="zh-CN"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）</a:t>
            </a:r>
            <a:r>
              <a:rPr sz="5415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。</a:t>
            </a:r>
            <a:endParaRPr sz="5415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2121420" y="2373873"/>
            <a:ext cx="14814030" cy="278457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396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4455" eaLnBrk="0">
              <a:lnSpc>
                <a:spcPct val="96000"/>
              </a:lnSpc>
            </a:pPr>
            <a:r>
              <a:rPr sz="8800" b="1" kern="0" spc="146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内部页与叶子页的功能</a:t>
            </a:r>
          </a:p>
        </p:txBody>
      </p:sp>
      <p:sp>
        <p:nvSpPr>
          <p:cNvPr id="56" name="textbox 56"/>
          <p:cNvSpPr/>
          <p:nvPr/>
        </p:nvSpPr>
        <p:spPr>
          <a:xfrm>
            <a:off x="26747821" y="16907806"/>
            <a:ext cx="6432970" cy="166677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75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31721588" y="8703252"/>
            <a:ext cx="2268670" cy="278193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eaLnBrk="0">
              <a:lnSpc>
                <a:spcPts val="9230"/>
              </a:lnSpc>
            </a:pPr>
            <a:endParaRPr sz="375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24472712" y="17488586"/>
            <a:ext cx="1128382" cy="1084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75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33534168" y="19741842"/>
            <a:ext cx="2664197" cy="41140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291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0450" y="15221185"/>
            <a:ext cx="12465119" cy="271975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0319" y="3507439"/>
            <a:ext cx="13625249" cy="881011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6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7" name="图片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30" y="433205"/>
            <a:ext cx="5647573" cy="1554597"/>
          </a:xfrm>
          <a:prstGeom prst="rect">
            <a:avLst/>
          </a:prstGeom>
        </p:spPr>
      </p:pic>
      <p:cxnSp>
        <p:nvCxnSpPr>
          <p:cNvPr id="8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9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树插入</a:t>
            </a:r>
            <a:endParaRPr lang="en-US" altLang="zh-CN" sz="5400" b="1" dirty="0"/>
          </a:p>
        </p:txBody>
      </p:sp>
      <p:sp>
        <p:nvSpPr>
          <p:cNvPr id="10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树删除</a:t>
            </a:r>
            <a:endParaRPr lang="en-US" altLang="zh-CN" sz="5400" b="1" dirty="0"/>
          </a:p>
        </p:txBody>
      </p:sp>
      <p:sp>
        <p:nvSpPr>
          <p:cNvPr id="11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树并发</a:t>
            </a:r>
            <a:endParaRPr lang="en-US" altLang="zh-CN" sz="5400" b="1" dirty="0"/>
          </a:p>
        </p:txBody>
      </p:sp>
      <p:pic>
        <p:nvPicPr>
          <p:cNvPr id="12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9202" y="-96583"/>
            <a:ext cx="4613574" cy="2470456"/>
          </a:xfrm>
          <a:prstGeom prst="rect">
            <a:avLst/>
          </a:prstGeom>
        </p:spPr>
      </p:pic>
      <p:sp>
        <p:nvSpPr>
          <p:cNvPr id="13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>
                <a:solidFill>
                  <a:schemeClr val="bg1"/>
                </a:solidFill>
              </a:rPr>
              <a:t>实验二</a:t>
            </a:r>
            <a:endParaRPr sz="7110" b="1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19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 64"/>
          <p:cNvSpPr/>
          <p:nvPr/>
        </p:nvSpPr>
        <p:spPr>
          <a:xfrm>
            <a:off x="0" y="166755"/>
            <a:ext cx="36404550" cy="20318819"/>
          </a:xfrm>
          <a:prstGeom prst="rect">
            <a:avLst/>
          </a:prstGeom>
          <a:solidFill>
            <a:srgbClr val="F3F3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3750"/>
          </a:p>
        </p:txBody>
      </p:sp>
      <p:sp>
        <p:nvSpPr>
          <p:cNvPr id="66" name="textbox 66"/>
          <p:cNvSpPr/>
          <p:nvPr/>
        </p:nvSpPr>
        <p:spPr>
          <a:xfrm>
            <a:off x="1931379" y="4407768"/>
            <a:ext cx="16219336" cy="14983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83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6000" b="1" kern="0" spc="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目标</a:t>
            </a: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2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在定义好的页面结构之上，实现</a:t>
            </a:r>
            <a:r>
              <a:rPr sz="5400" kern="0" spc="2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B+</a:t>
            </a:r>
            <a:r>
              <a:rPr sz="5400" kern="0" spc="-10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5400" kern="0" spc="2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树的动态操作，同</a:t>
            </a:r>
            <a:r>
              <a:rPr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</a:t>
            </a: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时维护其核心特性(平衡性、有序性)。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3683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6000" b="1" kern="0" spc="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三大核心操作</a:t>
            </a:r>
          </a:p>
          <a:p>
            <a:pPr marL="1202690" indent="-83185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1.</a:t>
            </a:r>
            <a:r>
              <a:rPr sz="5400" kern="0" spc="39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5400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查找</a:t>
            </a:r>
            <a:r>
              <a:rPr sz="5400" kern="0" spc="-77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(GetV</a:t>
            </a:r>
            <a:r>
              <a:rPr sz="5400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alue):   </a:t>
            </a:r>
            <a:r>
              <a:rPr sz="5400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从根节点开始，递归向下直</a:t>
            </a:r>
            <a:r>
              <a:rPr sz="5400" kern="0" spc="18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至找到目标键所在的叶子页。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202690" indent="-83185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2. </a:t>
            </a:r>
            <a:r>
              <a:rPr sz="5400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插入</a:t>
            </a:r>
            <a:r>
              <a:rPr sz="5400" kern="0" spc="-10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(Insert):  </a:t>
            </a:r>
            <a:r>
              <a:rPr sz="5400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找到正确的叶子页并插入。当</a:t>
            </a:r>
            <a:r>
              <a:rPr sz="5400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节点满时，必须通过分裂操作来维持树的</a:t>
            </a: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平</a:t>
            </a:r>
            <a:r>
              <a:rPr sz="5400" kern="0" spc="-31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衡。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202690" indent="-83185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3.</a:t>
            </a:r>
            <a:r>
              <a:rPr sz="5400" kern="0" spc="10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5400" kern="0" spc="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删除 </a:t>
            </a:r>
            <a:r>
              <a:rPr sz="5400" kern="0" spc="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(</a:t>
            </a:r>
            <a:r>
              <a:rPr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Delete</a:t>
            </a:r>
            <a:r>
              <a:rPr sz="5400" kern="0" spc="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):  </a:t>
            </a:r>
            <a:r>
              <a:rPr sz="5400" kern="0" spc="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从叶子页中移</a:t>
            </a:r>
            <a:r>
              <a:rPr sz="5400" kern="0" spc="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除键值对。当节</a:t>
            </a:r>
            <a:r>
              <a:rPr sz="5400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点低于最小填充率时，</a:t>
            </a: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必须通过重分配或合并</a:t>
            </a:r>
            <a:r>
              <a:rPr sz="5400" kern="0" spc="16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来恢复平衡。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3683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6040" b="1" kern="0" spc="35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核心挑战</a:t>
            </a:r>
            <a:endParaRPr sz="604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2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在所有修改操作后，如何高效地</a:t>
            </a:r>
            <a:r>
              <a:rPr sz="5400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维持</a:t>
            </a:r>
            <a:r>
              <a:rPr sz="5400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B+</a:t>
            </a:r>
            <a:r>
              <a:rPr sz="5400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树的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invariants  </a:t>
            </a:r>
            <a:r>
              <a:rPr sz="5400" kern="0" spc="-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(不变量)。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26245141" y="9046170"/>
            <a:ext cx="9164634" cy="548317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604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1868028" y="2393035"/>
            <a:ext cx="32998238" cy="223956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229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96000"/>
              </a:lnSpc>
              <a:spcBef>
                <a:spcPts val="10"/>
              </a:spcBef>
            </a:pPr>
            <a:r>
              <a:rPr sz="8800" b="1" kern="0" spc="146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单线程B+ 树的核心算法实现</a:t>
            </a:r>
            <a:endParaRPr sz="896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23652519" y="14393911"/>
            <a:ext cx="5698792" cy="8161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604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27065443" y="7705494"/>
            <a:ext cx="3984393" cy="804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604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19075372" y="12653882"/>
            <a:ext cx="1769960" cy="74608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521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33534168" y="19741842"/>
            <a:ext cx="2664197" cy="41140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81000"/>
              </a:lnSpc>
            </a:pPr>
            <a:endParaRPr sz="291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24842946" y="12664986"/>
            <a:ext cx="379655" cy="71433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7000"/>
              </a:lnSpc>
            </a:pPr>
            <a:endParaRPr sz="5625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24856052" y="9076931"/>
            <a:ext cx="377009" cy="69845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ct val="78000"/>
              </a:lnSpc>
            </a:pPr>
            <a:endParaRPr sz="5415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7586" y="6486474"/>
            <a:ext cx="16112188" cy="80428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5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6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30" y="433205"/>
            <a:ext cx="5647573" cy="1554597"/>
          </a:xfrm>
          <a:prstGeom prst="rect">
            <a:avLst/>
          </a:prstGeom>
        </p:spPr>
      </p:pic>
      <p:cxnSp>
        <p:nvCxnSpPr>
          <p:cNvPr id="7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8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树插入</a:t>
            </a:r>
            <a:endParaRPr lang="en-US" altLang="zh-CN" sz="5400" b="1" dirty="0"/>
          </a:p>
        </p:txBody>
      </p:sp>
      <p:sp>
        <p:nvSpPr>
          <p:cNvPr id="9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树删除</a:t>
            </a:r>
            <a:endParaRPr lang="en-US" altLang="zh-CN" sz="5400" b="1" dirty="0"/>
          </a:p>
        </p:txBody>
      </p:sp>
      <p:sp>
        <p:nvSpPr>
          <p:cNvPr id="10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树并发</a:t>
            </a:r>
            <a:endParaRPr lang="en-US" altLang="zh-CN" sz="5400" b="1" dirty="0"/>
          </a:p>
        </p:txBody>
      </p:sp>
      <p:pic>
        <p:nvPicPr>
          <p:cNvPr id="11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202" y="-96583"/>
            <a:ext cx="4613574" cy="2414499"/>
          </a:xfrm>
          <a:prstGeom prst="rect">
            <a:avLst/>
          </a:prstGeom>
        </p:spPr>
      </p:pic>
      <p:sp>
        <p:nvSpPr>
          <p:cNvPr id="12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>
                <a:solidFill>
                  <a:schemeClr val="bg1"/>
                </a:solidFill>
              </a:rPr>
              <a:t>实验二</a:t>
            </a:r>
            <a:endParaRPr sz="711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20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91"/>
            <a:ext cx="36404550" cy="20318819"/>
          </a:xfrm>
          <a:prstGeom prst="rect">
            <a:avLst/>
          </a:prstGeom>
        </p:spPr>
      </p:pic>
      <p:sp>
        <p:nvSpPr>
          <p:cNvPr id="94" name="textbox 94"/>
          <p:cNvSpPr/>
          <p:nvPr/>
        </p:nvSpPr>
        <p:spPr>
          <a:xfrm>
            <a:off x="1979574" y="11171594"/>
            <a:ext cx="15079050" cy="660493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b="1" kern="0" spc="16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场景：</a:t>
            </a:r>
            <a:r>
              <a:rPr sz="5400" kern="0" spc="-12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16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当向一个已满的节点插入新键时触发。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b="1" kern="0" spc="-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分裂过程：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29527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en-US"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创建一个新的叶子页。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29527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2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en-US" sz="5400" kern="0" spc="2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5400" kern="0" spc="2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将原节点后半部分的键值对移动到新节点。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29527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Songti SC Regular" panose="02010800040101010101" charset="-122"/>
                <a:cs typeface="Times New Roman" panose="02020603050405020304" pitchFamily="18" charset="0"/>
              </a:rPr>
              <a:t>3.</a:t>
            </a: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更新两个节点的</a:t>
            </a:r>
            <a:r>
              <a:rPr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next</a:t>
            </a:r>
            <a:r>
              <a:rPr lang="en-US"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_</a:t>
            </a:r>
            <a:r>
              <a:rPr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page</a:t>
            </a:r>
            <a:r>
              <a:rPr lang="en-US"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_</a:t>
            </a:r>
            <a:r>
              <a:rPr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id</a:t>
            </a:r>
            <a:r>
              <a:rPr lang="en-US"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_</a:t>
            </a: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指针。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29527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en-US" sz="5400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5400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将新节点的第一个</a:t>
            </a:r>
            <a:r>
              <a:rPr lang="zh-CN" altLang="en-US" sz="5400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键</a:t>
            </a:r>
            <a:r>
              <a:rPr sz="5400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推送到父节点。</a:t>
            </a:r>
            <a:endParaRPr sz="540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b="1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递归分裂：</a:t>
            </a:r>
            <a:r>
              <a:rPr sz="5400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如果父节点也满了，分裂操作</a:t>
            </a:r>
            <a:r>
              <a:rPr sz="5400" kern="0" spc="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会级联向上。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1512476" y="2581454"/>
            <a:ext cx="21006695" cy="148290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96000"/>
              </a:lnSpc>
            </a:pPr>
            <a:r>
              <a:rPr sz="8800" b="1" kern="0" spc="146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插入操作：通过“分裂”维持树的平衡</a:t>
            </a:r>
          </a:p>
        </p:txBody>
      </p:sp>
      <p:sp>
        <p:nvSpPr>
          <p:cNvPr id="102" name="textbox 102"/>
          <p:cNvSpPr/>
          <p:nvPr/>
        </p:nvSpPr>
        <p:spPr>
          <a:xfrm>
            <a:off x="18647882" y="11650337"/>
            <a:ext cx="7742579" cy="76459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93000"/>
              </a:lnSpc>
            </a:pPr>
            <a:r>
              <a:rPr sz="5000" b="1" kern="0" spc="-21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实现细节：</a:t>
            </a:r>
            <a:r>
              <a:rPr sz="5000" b="1" kern="0" spc="-21" dirty="0">
                <a:solidFill>
                  <a:srgbClr val="000000">
                    <a:alpha val="100000"/>
                  </a:srgbClr>
                </a:solidFill>
                <a:latin typeface="Times New Roman Bold" panose="02020803070505020304" pitchFamily="18" charset="0"/>
                <a:ea typeface="Arial" panose="020B0604020202020204"/>
                <a:cs typeface="Times New Roman Bold" panose="02020803070505020304" pitchFamily="18" charset="0"/>
              </a:rPr>
              <a:t>MoveHalf</a:t>
            </a:r>
            <a:r>
              <a:rPr sz="5000" b="1" kern="0" spc="-42" dirty="0">
                <a:solidFill>
                  <a:srgbClr val="000000">
                    <a:alpha val="100000"/>
                  </a:srgbClr>
                </a:solidFill>
                <a:latin typeface="Times New Roman Bold" panose="02020803070505020304" pitchFamily="18" charset="0"/>
                <a:ea typeface="Arial" panose="020B0604020202020204"/>
                <a:cs typeface="Times New Roman Bold" panose="02020803070505020304" pitchFamily="18" charset="0"/>
              </a:rPr>
              <a:t>To()</a:t>
            </a:r>
            <a:endParaRPr sz="5000" dirty="0">
              <a:latin typeface="Times New Roman Bold" panose="02020803070505020304" pitchFamily="18" charset="0"/>
              <a:ea typeface="Arial" panose="020B0604020202020204"/>
              <a:cs typeface="Times New Roman Bold" panose="02020803070505020304" pitchFamily="18" charset="0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33534167" y="19712554"/>
            <a:ext cx="2645680" cy="44711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312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927" y="4064355"/>
            <a:ext cx="33818398" cy="69316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3702" y="13578218"/>
            <a:ext cx="19204988" cy="497123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6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7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830" y="433205"/>
            <a:ext cx="5647573" cy="1554597"/>
          </a:xfrm>
          <a:prstGeom prst="rect">
            <a:avLst/>
          </a:prstGeom>
        </p:spPr>
      </p:pic>
      <p:cxnSp>
        <p:nvCxnSpPr>
          <p:cNvPr id="8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10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树删除</a:t>
            </a:r>
            <a:endParaRPr lang="en-US" altLang="zh-CN" sz="5400" b="1" dirty="0"/>
          </a:p>
        </p:txBody>
      </p:sp>
      <p:sp>
        <p:nvSpPr>
          <p:cNvPr id="11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树并发</a:t>
            </a:r>
            <a:endParaRPr lang="en-US" altLang="zh-CN" sz="5400" b="1" dirty="0"/>
          </a:p>
        </p:txBody>
      </p:sp>
      <p:pic>
        <p:nvPicPr>
          <p:cNvPr id="12" name="图片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5195" y="-98372"/>
            <a:ext cx="5474713" cy="2414499"/>
          </a:xfrm>
          <a:prstGeom prst="rect">
            <a:avLst/>
          </a:prstGeom>
        </p:spPr>
      </p:pic>
      <p:sp>
        <p:nvSpPr>
          <p:cNvPr id="13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实验二</a:t>
            </a:r>
            <a:endParaRPr sz="7110" b="1" dirty="0"/>
          </a:p>
        </p:txBody>
      </p:sp>
      <p:sp>
        <p:nvSpPr>
          <p:cNvPr id="9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</a:rPr>
              <a:t>B</a:t>
            </a:r>
            <a:r>
              <a:rPr lang="en-US" altLang="zh-CN" sz="5400" b="1" baseline="30000" dirty="0">
                <a:solidFill>
                  <a:schemeClr val="bg1"/>
                </a:solidFill>
              </a:rPr>
              <a:t>+</a:t>
            </a:r>
            <a:r>
              <a:rPr lang="zh-CN" altLang="en-US" sz="5400" b="1" dirty="0">
                <a:solidFill>
                  <a:schemeClr val="bg1"/>
                </a:solidFill>
              </a:rPr>
              <a:t>树插入</a:t>
            </a:r>
            <a:endParaRPr lang="en-US" altLang="zh-CN" sz="5400" b="1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21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 106"/>
          <p:cNvSpPr/>
          <p:nvPr/>
        </p:nvSpPr>
        <p:spPr>
          <a:xfrm>
            <a:off x="0" y="591"/>
            <a:ext cx="36404550" cy="20318819"/>
          </a:xfrm>
          <a:prstGeom prst="rect">
            <a:avLst/>
          </a:prstGeom>
          <a:solidFill>
            <a:srgbClr val="EEF1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3750"/>
          </a:p>
        </p:txBody>
      </p:sp>
      <p:sp>
        <p:nvSpPr>
          <p:cNvPr id="110" name="textbox 110"/>
          <p:cNvSpPr/>
          <p:nvPr/>
        </p:nvSpPr>
        <p:spPr>
          <a:xfrm>
            <a:off x="19988109" y="3765394"/>
            <a:ext cx="14188779" cy="153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5835" baseline="7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1767859" y="5784020"/>
            <a:ext cx="16985262" cy="1333819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b="1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场景：</a:t>
            </a:r>
            <a:r>
              <a:rPr sz="5400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当删除一个键导致</a:t>
            </a:r>
            <a:r>
              <a:rPr sz="5400" kern="0" spc="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节点的大小低于最小阈值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48958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(max</a:t>
            </a:r>
            <a:r>
              <a:rPr lang="en-US" sz="5400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_</a:t>
            </a:r>
            <a:r>
              <a:rPr sz="5400" kern="0" spc="-10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 </a:t>
            </a:r>
            <a:r>
              <a:rPr sz="5400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size</a:t>
            </a:r>
            <a:r>
              <a:rPr lang="en-US" sz="5400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 </a:t>
            </a:r>
            <a:r>
              <a:rPr sz="5400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/</a:t>
            </a:r>
            <a:r>
              <a:rPr lang="en-US" sz="5400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 </a:t>
            </a:r>
            <a:r>
              <a:rPr sz="5400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2) </a:t>
            </a:r>
            <a:r>
              <a:rPr sz="5400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时触发。</a:t>
            </a:r>
            <a:endParaRPr sz="540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540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3429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b="1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应对策略：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951230" indent="-81915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b="1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1.</a:t>
            </a:r>
            <a:r>
              <a:rPr sz="5400" b="1" kern="0" spc="7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5400" b="1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重分配</a:t>
            </a:r>
            <a:r>
              <a:rPr sz="5400" kern="0" spc="-6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(</a:t>
            </a:r>
            <a:r>
              <a:rPr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Redistribute</a:t>
            </a:r>
            <a:r>
              <a:rPr sz="5400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): </a:t>
            </a:r>
            <a:r>
              <a:rPr sz="5400" kern="0" spc="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优先尝试。如果相邻的</a:t>
            </a:r>
            <a:r>
              <a:rPr sz="5400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兄弟节点有富余的键，从中“借”一个过来。开销</a:t>
            </a:r>
            <a:r>
              <a:rPr sz="5400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较小</a:t>
            </a:r>
            <a:r>
              <a:rPr sz="5400" kern="0" spc="-1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951230" indent="-915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5400" b="1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5400" b="1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5400" b="1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sz="5400" b="1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合并</a:t>
            </a:r>
            <a:r>
              <a:rPr sz="5400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Coalesce</a:t>
            </a:r>
            <a:r>
              <a:rPr sz="5400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sz="5400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sz="5400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当兄弟节点也没有富余键时执</a:t>
            </a:r>
            <a:r>
              <a:rPr sz="5400" kern="0" spc="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行。将当前节点与一个兄弟节点合并</a:t>
            </a:r>
            <a:r>
              <a:rPr sz="5400" kern="0" spc="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，导致父节</a:t>
            </a:r>
            <a:r>
              <a:rPr sz="5400" kern="0" spc="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点中的一个键和指针被删除，可能引发</a:t>
            </a:r>
            <a:r>
              <a:rPr sz="5400" kern="0" spc="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级联合并。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540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3556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b="1" kern="0" spc="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根节点特殊处理：</a:t>
            </a:r>
            <a:r>
              <a:rPr sz="5400" kern="0" spc="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如果根节点的子节点合并后只剩一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27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个，树的高度会降低。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1640423" y="3218882"/>
            <a:ext cx="28097116" cy="1665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96000"/>
              </a:lnSpc>
            </a:pPr>
            <a:r>
              <a:rPr sz="8800" b="1" kern="0" spc="146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删除操作：应对“下溢”的重分配与合并策略</a:t>
            </a:r>
          </a:p>
        </p:txBody>
      </p:sp>
      <p:sp>
        <p:nvSpPr>
          <p:cNvPr id="116" name="textbox 116"/>
          <p:cNvSpPr/>
          <p:nvPr/>
        </p:nvSpPr>
        <p:spPr>
          <a:xfrm>
            <a:off x="22501408" y="18429850"/>
            <a:ext cx="3399698" cy="788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79000"/>
              </a:lnSpc>
            </a:pPr>
            <a:endParaRPr sz="5000" baseline="15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20054290" y="14014080"/>
            <a:ext cx="2153583" cy="9008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416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29552240" y="7299669"/>
            <a:ext cx="1386336" cy="895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7085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32396526" y="7331100"/>
            <a:ext cx="1572856" cy="797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625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27184486" y="18479313"/>
            <a:ext cx="1874462" cy="6428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479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19988035" y="9154315"/>
            <a:ext cx="2223694" cy="5450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396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32409628" y="12778705"/>
            <a:ext cx="1570209" cy="709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8335" baseline="-4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33534168" y="19751605"/>
            <a:ext cx="2633774" cy="39552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271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29737539" y="12704691"/>
            <a:ext cx="1219656" cy="796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5210" baseline="15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28044363" y="9370981"/>
            <a:ext cx="1138963" cy="797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625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30438692" y="11051061"/>
            <a:ext cx="1091343" cy="71433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5625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30306179" y="18507039"/>
            <a:ext cx="1153514" cy="65745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5210" baseline="10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30835501" y="16620156"/>
            <a:ext cx="439183" cy="45505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335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9577" y="6036713"/>
            <a:ext cx="13889817" cy="12328866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4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5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30" y="433205"/>
            <a:ext cx="5647573" cy="1554597"/>
          </a:xfrm>
          <a:prstGeom prst="rect">
            <a:avLst/>
          </a:prstGeom>
        </p:spPr>
      </p:pic>
      <p:cxnSp>
        <p:nvCxnSpPr>
          <p:cNvPr id="7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9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树并发</a:t>
            </a:r>
            <a:endParaRPr lang="en-US" altLang="zh-CN" sz="5400" b="1" dirty="0"/>
          </a:p>
        </p:txBody>
      </p:sp>
      <p:pic>
        <p:nvPicPr>
          <p:cNvPr id="10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8964" y="-113846"/>
            <a:ext cx="5659118" cy="2449023"/>
          </a:xfrm>
          <a:prstGeom prst="rect">
            <a:avLst/>
          </a:prstGeom>
        </p:spPr>
      </p:pic>
      <p:sp>
        <p:nvSpPr>
          <p:cNvPr id="11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实验二</a:t>
            </a:r>
            <a:endParaRPr sz="7110" b="1" dirty="0"/>
          </a:p>
        </p:txBody>
      </p:sp>
      <p:sp>
        <p:nvSpPr>
          <p:cNvPr id="12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树插入</a:t>
            </a:r>
            <a:endParaRPr lang="en-US" altLang="zh-CN" sz="5400" b="1" dirty="0"/>
          </a:p>
        </p:txBody>
      </p:sp>
      <p:sp>
        <p:nvSpPr>
          <p:cNvPr id="8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</a:rPr>
              <a:t>B</a:t>
            </a:r>
            <a:r>
              <a:rPr lang="en-US" altLang="zh-CN" sz="5400" b="1" baseline="30000" dirty="0">
                <a:solidFill>
                  <a:schemeClr val="bg1"/>
                </a:solidFill>
              </a:rPr>
              <a:t>+</a:t>
            </a:r>
            <a:r>
              <a:rPr lang="zh-CN" altLang="en-US" sz="5400" b="1" dirty="0">
                <a:solidFill>
                  <a:schemeClr val="bg1"/>
                </a:solidFill>
              </a:rPr>
              <a:t>树删除</a:t>
            </a:r>
            <a:endParaRPr lang="en-US" altLang="zh-CN" sz="54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22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 142"/>
          <p:cNvSpPr/>
          <p:nvPr/>
        </p:nvSpPr>
        <p:spPr>
          <a:xfrm>
            <a:off x="0" y="591"/>
            <a:ext cx="36404550" cy="20318819"/>
          </a:xfrm>
          <a:prstGeom prst="rect">
            <a:avLst/>
          </a:prstGeom>
          <a:solidFill>
            <a:srgbClr val="F1F5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3750"/>
          </a:p>
        </p:txBody>
      </p:sp>
      <p:sp>
        <p:nvSpPr>
          <p:cNvPr id="148" name="textbox 148"/>
          <p:cNvSpPr/>
          <p:nvPr/>
        </p:nvSpPr>
        <p:spPr>
          <a:xfrm>
            <a:off x="1619156" y="5406352"/>
            <a:ext cx="16583119" cy="510483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b="1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目的</a:t>
            </a:r>
            <a:r>
              <a:rPr lang="zh-CN" altLang="en-US" sz="5400" b="1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  <a:r>
              <a:rPr sz="5400" kern="0" spc="-21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高效地遍历</a:t>
            </a:r>
            <a:r>
              <a:rPr sz="5400" kern="0" spc="-21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sz="5400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sz="5400" kern="0" spc="-95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5400" kern="0" spc="-21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树叶子节点中的所有键值对</a:t>
            </a:r>
            <a:r>
              <a:rPr lang="en-US" sz="5400" kern="0" spc="-21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sz="5400" kern="0" spc="125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支</a:t>
            </a:r>
            <a:r>
              <a:rPr lang="zh-CN" altLang="en-US" sz="5400" kern="0" spc="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持</a:t>
            </a:r>
            <a:r>
              <a:rPr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sz="5400" kern="0" spc="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each</a:t>
            </a:r>
            <a:r>
              <a:rPr sz="5400" kern="0" spc="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5400" kern="0" spc="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循环。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10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b="1" kern="0" spc="2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实现：</a:t>
            </a:r>
            <a:r>
              <a:rPr sz="5400" kern="0" spc="22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迭代器内部维护</a:t>
            </a:r>
            <a:r>
              <a:rPr sz="5400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当前叶子页的指针 </a:t>
            </a:r>
            <a:r>
              <a:rPr sz="5400" u="dotted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(</a:t>
            </a:r>
            <a:r>
              <a:rPr sz="5400" u="dotted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leaf</a:t>
            </a:r>
            <a:r>
              <a:rPr lang="en-US" sz="5400" u="dotted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_</a:t>
            </a:r>
            <a:r>
              <a:rPr sz="5400" kern="0" spc="20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)</a:t>
            </a:r>
            <a:r>
              <a:rPr sz="5400" kern="0" spc="16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和在页面内的索引 </a:t>
            </a:r>
            <a:r>
              <a:rPr sz="5400" kern="0" spc="16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index</a:t>
            </a:r>
            <a:r>
              <a:rPr sz="5400" kern="0" spc="16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_)</a:t>
            </a:r>
            <a:r>
              <a:rPr sz="5400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operator</a:t>
            </a:r>
            <a:r>
              <a:rPr sz="5400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++()</a:t>
            </a:r>
            <a:r>
              <a:rPr lang="en-US" sz="5400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5400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通过</a:t>
            </a:r>
            <a:r>
              <a:rPr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GetNextPageld</a:t>
            </a:r>
            <a:r>
              <a:rPr sz="5400" kern="0" spc="33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sz="5400" kern="0" spc="33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指针无缝切换</a:t>
            </a:r>
            <a:r>
              <a:rPr sz="5400" kern="0" spc="31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到下一个叶子页。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1957955" y="18251075"/>
            <a:ext cx="34208636" cy="19022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66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ts val="4510"/>
              </a:lnSpc>
            </a:pPr>
            <a:r>
              <a:rPr sz="6665" kern="0" spc="271" baseline="10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析构函数自动调用`</a:t>
            </a:r>
            <a:r>
              <a:rPr sz="6665" kern="0" baseline="10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UnpinPage</a:t>
            </a:r>
            <a:r>
              <a:rPr sz="6665" kern="0" spc="271" baseline="10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',</a:t>
            </a:r>
            <a:r>
              <a:rPr sz="6665" kern="0" spc="27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</a:t>
            </a:r>
            <a:r>
              <a:rPr sz="6665" kern="0" spc="271" baseline="10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防止资源泄漏。</a:t>
            </a:r>
            <a:r>
              <a:rPr sz="6665" kern="0" spc="271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6665" kern="0" spc="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lang="en-US" sz="6665" kern="0" spc="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</a:t>
            </a:r>
            <a:r>
              <a:rPr sz="6665" kern="0" spc="250" baseline="8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禁用拷贝，提供移动构造，防止对同一页面资源的“二次释放”。</a:t>
            </a:r>
            <a:endParaRPr sz="6665" baseline="8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6000"/>
              </a:lnSpc>
            </a:pPr>
            <a:endParaRPr sz="66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66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66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eaLnBrk="0">
              <a:lnSpc>
                <a:spcPct val="81000"/>
              </a:lnSpc>
            </a:pPr>
            <a:endParaRPr sz="666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1555893" y="3575403"/>
            <a:ext cx="18023692" cy="125272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97000"/>
              </a:lnSpc>
            </a:pPr>
            <a:r>
              <a:rPr sz="8125" b="1" kern="0" spc="146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功能拓展：支持范围扫描的索引迭代器</a:t>
            </a:r>
            <a:endParaRPr sz="812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1971196" y="10440359"/>
            <a:ext cx="6272906" cy="109927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94000"/>
              </a:lnSpc>
            </a:pPr>
            <a:endParaRPr sz="729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30001837" y="4828130"/>
            <a:ext cx="2062305" cy="249355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437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1966798" y="12063739"/>
            <a:ext cx="7171112" cy="795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97000"/>
              </a:lnSpc>
            </a:pPr>
            <a:r>
              <a:rPr sz="5000" b="1" kern="0" spc="-125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RAII</a:t>
            </a:r>
            <a:r>
              <a:rPr sz="5000" kern="0" spc="-125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0" b="1" kern="0" spc="-125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(资源获取即初始化)</a:t>
            </a:r>
            <a:endParaRPr sz="5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25213183" y="5230254"/>
            <a:ext cx="3361336" cy="82942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437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9995641" y="12067656"/>
            <a:ext cx="2533238" cy="796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98000"/>
              </a:lnSpc>
            </a:pPr>
            <a:r>
              <a:rPr sz="5000" b="1" kern="0" spc="-125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移动语义</a:t>
            </a:r>
            <a:endParaRPr sz="5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30438686" y="9205812"/>
            <a:ext cx="2830877" cy="51855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375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30557730" y="3993829"/>
            <a:ext cx="2563663" cy="51855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375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9585" y="4772651"/>
            <a:ext cx="14789348" cy="621734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13" y="13408894"/>
            <a:ext cx="17319941" cy="389708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7209" y="13198563"/>
            <a:ext cx="15846297" cy="4717247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17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18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830" y="433205"/>
            <a:ext cx="5647573" cy="1554597"/>
          </a:xfrm>
          <a:prstGeom prst="rect">
            <a:avLst/>
          </a:prstGeom>
        </p:spPr>
      </p:pic>
      <p:cxnSp>
        <p:nvCxnSpPr>
          <p:cNvPr id="19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20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树并发</a:t>
            </a:r>
            <a:endParaRPr lang="en-US" altLang="zh-CN" sz="5400" b="1" dirty="0"/>
          </a:p>
        </p:txBody>
      </p:sp>
      <p:pic>
        <p:nvPicPr>
          <p:cNvPr id="21" name="图片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88964" y="-113846"/>
            <a:ext cx="5659118" cy="2449023"/>
          </a:xfrm>
          <a:prstGeom prst="rect">
            <a:avLst/>
          </a:prstGeom>
        </p:spPr>
      </p:pic>
      <p:sp>
        <p:nvSpPr>
          <p:cNvPr id="22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实验二</a:t>
            </a:r>
            <a:endParaRPr sz="7110" b="1" dirty="0"/>
          </a:p>
        </p:txBody>
      </p:sp>
      <p:sp>
        <p:nvSpPr>
          <p:cNvPr id="23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树插入</a:t>
            </a:r>
            <a:endParaRPr lang="en-US" altLang="zh-CN" sz="5400" b="1" dirty="0"/>
          </a:p>
        </p:txBody>
      </p:sp>
      <p:sp>
        <p:nvSpPr>
          <p:cNvPr id="24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</a:rPr>
              <a:t>B</a:t>
            </a:r>
            <a:r>
              <a:rPr lang="en-US" altLang="zh-CN" sz="5400" b="1" baseline="30000" dirty="0">
                <a:solidFill>
                  <a:schemeClr val="bg1"/>
                </a:solidFill>
              </a:rPr>
              <a:t>+</a:t>
            </a:r>
            <a:r>
              <a:rPr lang="zh-CN" altLang="en-US" sz="5400" b="1" dirty="0">
                <a:solidFill>
                  <a:schemeClr val="bg1"/>
                </a:solidFill>
              </a:rPr>
              <a:t>树删除</a:t>
            </a:r>
            <a:endParaRPr lang="en-US" altLang="zh-CN" sz="5400" b="1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843679" y="1950698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23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174"/>
          <p:cNvSpPr/>
          <p:nvPr/>
        </p:nvSpPr>
        <p:spPr>
          <a:xfrm>
            <a:off x="1419407" y="3175830"/>
            <a:ext cx="34028728" cy="1878300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275" eaLnBrk="0">
              <a:lnSpc>
                <a:spcPct val="97000"/>
              </a:lnSpc>
            </a:pPr>
            <a:r>
              <a:rPr sz="8800" b="1" kern="0" spc="146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B+树的并发</a:t>
            </a:r>
          </a:p>
          <a:p>
            <a:pPr marL="35560" eaLnBrk="0">
              <a:lnSpc>
                <a:spcPct val="97000"/>
              </a:lnSpc>
              <a:spcBef>
                <a:spcPts val="1710"/>
              </a:spcBef>
            </a:pPr>
            <a:r>
              <a:rPr sz="5625" b="1" kern="0" spc="62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经典竞态条件</a:t>
            </a:r>
            <a:r>
              <a:rPr sz="5625" kern="0" spc="62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5625" b="1" kern="0" spc="62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5625" kern="0" dirty="0">
                <a:solidFill>
                  <a:srgbClr val="000000">
                    <a:alpha val="100000"/>
                  </a:srgbClr>
                </a:solidFill>
                <a:latin typeface="Times New Roman Regular" panose="02020503050405090304" charset="0"/>
                <a:ea typeface="宋体" panose="02010600030101010101" pitchFamily="2" charset="-122"/>
                <a:cs typeface="Times New Roman Regular" panose="02020503050405090304" charset="0"/>
              </a:rPr>
              <a:t>Race</a:t>
            </a:r>
            <a:r>
              <a:rPr sz="5625" kern="0" spc="62" dirty="0">
                <a:solidFill>
                  <a:srgbClr val="000000">
                    <a:alpha val="100000"/>
                  </a:srgbClr>
                </a:solidFill>
                <a:latin typeface="Times New Roman Regular" panose="02020503050405090304" charset="0"/>
                <a:ea typeface="宋体" panose="02010600030101010101" pitchFamily="2" charset="-122"/>
                <a:cs typeface="Times New Roman Regular" panose="02020503050405090304" charset="0"/>
              </a:rPr>
              <a:t> </a:t>
            </a:r>
            <a:r>
              <a:rPr sz="5625" kern="0" dirty="0">
                <a:solidFill>
                  <a:srgbClr val="000000">
                    <a:alpha val="100000"/>
                  </a:srgbClr>
                </a:solidFill>
                <a:latin typeface="Times New Roman Regular" panose="02020503050405090304" charset="0"/>
                <a:ea typeface="宋体" panose="02010600030101010101" pitchFamily="2" charset="-122"/>
                <a:cs typeface="Times New Roman Regular" panose="02020503050405090304" charset="0"/>
              </a:rPr>
              <a:t>Condition</a:t>
            </a:r>
            <a:r>
              <a:rPr sz="5625" b="1" kern="0" spc="62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5625" kern="0" spc="-1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625" b="1" kern="0" spc="42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示例</a:t>
            </a:r>
            <a:endParaRPr sz="562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87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lang="zh-CN" altLang="en-US"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lang="zh-CN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如图</a:t>
            </a:r>
            <a:r>
              <a:rPr lang="en-US" altLang="zh-CN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zh-CN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线程</a:t>
            </a:r>
            <a:r>
              <a:rPr lang="en-US" altLang="zh-CN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T1</a:t>
            </a:r>
            <a:r>
              <a:rPr lang="zh-CN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要删除</a:t>
            </a:r>
            <a:r>
              <a:rPr lang="en-US" altLang="zh-CN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44</a:t>
            </a:r>
            <a:r>
              <a:rPr lang="zh-CN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T1</a:t>
            </a:r>
            <a:r>
              <a:rPr lang="zh-CN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会从根节点遍历，找到</a:t>
            </a:r>
            <a:r>
              <a:rPr lang="en-US" altLang="zh-CN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44</a:t>
            </a:r>
            <a:r>
              <a:rPr lang="zh-CN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将其删除。这时，来了个线程</a:t>
            </a:r>
            <a:r>
              <a:rPr lang="en-US" altLang="zh-CN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T2</a:t>
            </a:r>
            <a:r>
              <a:rPr lang="zh-CN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，要找</a:t>
            </a:r>
            <a:r>
              <a:rPr lang="en-US" altLang="zh-CN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41。</a:t>
            </a:r>
            <a:r>
              <a:rPr lang="zh-CN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但是，线程</a:t>
            </a:r>
            <a:r>
              <a:rPr lang="en-US" altLang="zh-CN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T1</a:t>
            </a:r>
            <a:r>
              <a:rPr lang="zh-CN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删除完数值</a:t>
            </a:r>
            <a:r>
              <a:rPr lang="en-US" altLang="zh-CN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44</a:t>
            </a:r>
            <a:r>
              <a:rPr lang="zh-CN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时，会将树进</a:t>
            </a:r>
            <a:r>
              <a:rPr lang="en-US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⾏</a:t>
            </a:r>
            <a:r>
              <a:rPr lang="zh-CN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重构，导致线程</a:t>
            </a:r>
            <a:r>
              <a:rPr lang="en-US" altLang="zh-CN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T2</a:t>
            </a:r>
            <a:r>
              <a:rPr lang="zh-CN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找不到</a:t>
            </a:r>
            <a:r>
              <a:rPr lang="en-US" altLang="zh-CN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41</a:t>
            </a:r>
            <a:r>
              <a:rPr lang="zh-CN" altLang="en-US" sz="54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。</a:t>
            </a:r>
            <a:endParaRPr lang="zh-CN" altLang="en-US" sz="5400" dirty="0">
              <a:latin typeface="Times New Roman" panose="02020603050405020304" pitchFamily="18" charset="0"/>
              <a:ea typeface="Songti SC Regular" panose="02010800040101010101" charset="-122"/>
              <a:cs typeface="Times New Roman" panose="02020603050405020304" pitchFamily="18" charset="0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b="1" kern="0" spc="16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问题：</a:t>
            </a:r>
            <a:r>
              <a:rPr sz="5400" kern="0" spc="16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如果没有并发控制，</a:t>
            </a:r>
            <a:r>
              <a:rPr sz="5400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多个线程同时读写</a:t>
            </a:r>
            <a:r>
              <a:rPr sz="5400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B+</a:t>
            </a:r>
            <a:r>
              <a:rPr sz="5400" kern="0" spc="-93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5400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树会导致严重的数据不一致。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189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b="1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解决方案：</a:t>
            </a:r>
            <a:r>
              <a:rPr sz="5400" kern="0" spc="-112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5400" kern="0" spc="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必须引入一种细粒度的锁机制，在保证线程安全的同时，最大化并发性能。</a:t>
            </a:r>
            <a:endParaRPr sz="54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291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26130039" y="11163634"/>
            <a:ext cx="396852" cy="510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291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29499453" y="11900620"/>
            <a:ext cx="3300485" cy="66671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5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407" y="6068591"/>
            <a:ext cx="16850333" cy="916198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9740" y="6067956"/>
            <a:ext cx="17802777" cy="916198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6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7" name="图片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55" y="362897"/>
            <a:ext cx="5647573" cy="1554597"/>
          </a:xfrm>
          <a:prstGeom prst="rect">
            <a:avLst/>
          </a:prstGeom>
        </p:spPr>
      </p:pic>
      <p:cxnSp>
        <p:nvCxnSpPr>
          <p:cNvPr id="8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10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8084" y="-96582"/>
            <a:ext cx="5807766" cy="2461290"/>
          </a:xfrm>
          <a:prstGeom prst="rect">
            <a:avLst/>
          </a:prstGeom>
        </p:spPr>
      </p:pic>
      <p:sp>
        <p:nvSpPr>
          <p:cNvPr id="11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实验二</a:t>
            </a:r>
            <a:endParaRPr sz="7110" b="1" dirty="0"/>
          </a:p>
        </p:txBody>
      </p:sp>
      <p:sp>
        <p:nvSpPr>
          <p:cNvPr id="12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树插入</a:t>
            </a:r>
            <a:endParaRPr lang="en-US" altLang="zh-CN" sz="5400" b="1" dirty="0"/>
          </a:p>
        </p:txBody>
      </p:sp>
      <p:sp>
        <p:nvSpPr>
          <p:cNvPr id="13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树删除</a:t>
            </a:r>
            <a:endParaRPr lang="en-US" altLang="zh-CN" sz="5400" b="1" dirty="0"/>
          </a:p>
        </p:txBody>
      </p:sp>
      <p:sp>
        <p:nvSpPr>
          <p:cNvPr id="9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</a:rPr>
              <a:t>B</a:t>
            </a:r>
            <a:r>
              <a:rPr lang="en-US" altLang="zh-CN" sz="5400" b="1" baseline="30000" dirty="0">
                <a:solidFill>
                  <a:schemeClr val="bg1"/>
                </a:solidFill>
              </a:rPr>
              <a:t>+</a:t>
            </a:r>
            <a:r>
              <a:rPr lang="zh-CN" altLang="en-US" sz="5400" b="1" dirty="0">
                <a:solidFill>
                  <a:schemeClr val="bg1"/>
                </a:solidFill>
              </a:rPr>
              <a:t>树并发</a:t>
            </a:r>
            <a:endParaRPr lang="en-US" altLang="zh-CN" sz="5400" b="1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24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 180"/>
          <p:cNvSpPr/>
          <p:nvPr/>
        </p:nvSpPr>
        <p:spPr>
          <a:xfrm>
            <a:off x="0" y="591"/>
            <a:ext cx="36404550" cy="20318819"/>
          </a:xfrm>
          <a:prstGeom prst="rect">
            <a:avLst/>
          </a:prstGeom>
          <a:solidFill>
            <a:srgbClr val="EEF1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3750"/>
          </a:p>
        </p:txBody>
      </p:sp>
      <p:sp>
        <p:nvSpPr>
          <p:cNvPr id="182" name="textbox 182"/>
          <p:cNvSpPr/>
          <p:nvPr/>
        </p:nvSpPr>
        <p:spPr>
          <a:xfrm>
            <a:off x="519430" y="2760345"/>
            <a:ext cx="22079585" cy="17209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8800" b="1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并发协议：Latch Crabbing之“乐观”搜索</a:t>
            </a: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3683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6665" b="1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核心思想 </a:t>
            </a:r>
            <a:r>
              <a:rPr sz="6665" b="1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(Latch</a:t>
            </a:r>
            <a:r>
              <a:rPr sz="6665" b="1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 Crabbing):</a:t>
            </a:r>
          </a:p>
          <a:p>
            <a:pPr marL="3683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像螃蟹走路一样，先锁住下一步要访问的子节</a:t>
            </a:r>
            <a:r>
              <a:rPr sz="5400" kern="0" spc="-10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点，</a:t>
            </a:r>
            <a:r>
              <a:rPr sz="5400" kern="0" spc="-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确认安全后再释放当前父节点的锁。</a:t>
            </a: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3810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6665" b="1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搜索</a:t>
            </a:r>
            <a:r>
              <a:rPr sz="6665" b="1" kern="0" spc="-5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6665" b="1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(Search) </a:t>
            </a:r>
            <a:r>
              <a:rPr sz="6665" b="1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操作-读锁</a:t>
            </a:r>
            <a:r>
              <a:rPr sz="6665" b="1" kern="0" spc="-116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sz="6665" b="1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(R-Latch):</a:t>
            </a:r>
            <a:endParaRPr sz="6665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1. 从根节点开始，获取根节点的读锁。	</a:t>
            </a: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2. 获取下一个子节点的读锁。</a:t>
            </a:r>
          </a:p>
          <a:p>
            <a:pPr marL="3683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3. 立即释放父节点的读锁。</a:t>
            </a: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4. 重复此过程，直至叶子节点。</a:t>
            </a: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2085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3556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6665" b="1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为何“乐观”:</a:t>
            </a:r>
          </a:p>
          <a:p>
            <a:pPr marL="3556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搜索是只读操作，不会改变树的结构，因此可以大胆地提前释放父节点锁，最大化并发度。</a:t>
            </a:r>
          </a:p>
        </p:txBody>
      </p:sp>
      <p:pic>
        <p:nvPicPr>
          <p:cNvPr id="184" name="picture 1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977822" y="3162197"/>
            <a:ext cx="11984741" cy="15609528"/>
          </a:xfrm>
          <a:prstGeom prst="rect">
            <a:avLst/>
          </a:prstGeom>
        </p:spPr>
      </p:pic>
      <p:graphicFrame>
        <p:nvGraphicFramePr>
          <p:cNvPr id="186" name="table 186"/>
          <p:cNvGraphicFramePr>
            <a:graphicFrameLocks noGrp="1"/>
          </p:cNvGraphicFramePr>
          <p:nvPr/>
        </p:nvGraphicFramePr>
        <p:xfrm>
          <a:off x="23057185" y="3334160"/>
          <a:ext cx="11815603" cy="16097637"/>
        </p:xfrm>
        <a:graphic>
          <a:graphicData uri="http://schemas.openxmlformats.org/drawingml/2006/table">
            <a:tbl>
              <a:tblPr/>
              <a:tblGrid>
                <a:gridCol w="4024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5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097637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5"/>
                        </a:spcBef>
                      </a:pPr>
                      <a:endParaRPr sz="5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45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48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0" name="textbox 190"/>
          <p:cNvSpPr/>
          <p:nvPr/>
        </p:nvSpPr>
        <p:spPr>
          <a:xfrm>
            <a:off x="33534167" y="19761367"/>
            <a:ext cx="2644355" cy="386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81000"/>
              </a:lnSpc>
            </a:pPr>
            <a:endParaRPr sz="271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5971" y="2760029"/>
            <a:ext cx="10630629" cy="51506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5971" y="7966504"/>
            <a:ext cx="10630629" cy="53308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25972" y="13325284"/>
            <a:ext cx="10630628" cy="56981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391845" y="2959891"/>
            <a:ext cx="292024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Step 1–2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3498722" y="8253664"/>
            <a:ext cx="259639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b="1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Step 2–3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460927" y="13753152"/>
            <a:ext cx="36066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Step 4 (Leaf)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0355963" y="3569516"/>
            <a:ext cx="35218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→ release 9 </a:t>
            </a:r>
            <a:r>
              <a:rPr lang="en-US" altLang="zh-CN" sz="2800" dirty="0" err="1"/>
              <a:t>RLatch</a:t>
            </a:r>
            <a:endParaRPr lang="en-US" altLang="zh-CN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30165804" y="8900351"/>
            <a:ext cx="44246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→ release 13 </a:t>
            </a:r>
            <a:r>
              <a:rPr lang="en-US" altLang="zh-CN" sz="2800" dirty="0" err="1"/>
              <a:t>RLatch</a:t>
            </a:r>
            <a:endParaRPr lang="en-US" altLang="zh-CN" sz="2800" dirty="0"/>
          </a:p>
        </p:txBody>
      </p:sp>
      <p:sp>
        <p:nvSpPr>
          <p:cNvPr id="2" name="矩形 1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12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13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555" y="362897"/>
            <a:ext cx="5647573" cy="1554597"/>
          </a:xfrm>
          <a:prstGeom prst="rect">
            <a:avLst/>
          </a:prstGeom>
        </p:spPr>
      </p:pic>
      <p:cxnSp>
        <p:nvCxnSpPr>
          <p:cNvPr id="14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15" name="图片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48084" y="-96582"/>
            <a:ext cx="5807766" cy="2461290"/>
          </a:xfrm>
          <a:prstGeom prst="rect">
            <a:avLst/>
          </a:prstGeom>
        </p:spPr>
      </p:pic>
      <p:sp>
        <p:nvSpPr>
          <p:cNvPr id="16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实验二</a:t>
            </a:r>
            <a:endParaRPr sz="7110" b="1" dirty="0"/>
          </a:p>
        </p:txBody>
      </p:sp>
      <p:sp>
        <p:nvSpPr>
          <p:cNvPr id="17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树插入</a:t>
            </a:r>
            <a:endParaRPr lang="en-US" altLang="zh-CN" sz="5400" b="1" dirty="0"/>
          </a:p>
        </p:txBody>
      </p:sp>
      <p:sp>
        <p:nvSpPr>
          <p:cNvPr id="18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树删除</a:t>
            </a:r>
            <a:endParaRPr lang="en-US" altLang="zh-CN" sz="5400" b="1" dirty="0"/>
          </a:p>
        </p:txBody>
      </p:sp>
      <p:sp>
        <p:nvSpPr>
          <p:cNvPr id="19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</a:rPr>
              <a:t>B</a:t>
            </a:r>
            <a:r>
              <a:rPr lang="en-US" altLang="zh-CN" sz="5400" b="1" baseline="30000" dirty="0">
                <a:solidFill>
                  <a:schemeClr val="bg1"/>
                </a:solidFill>
              </a:rPr>
              <a:t>+</a:t>
            </a:r>
            <a:r>
              <a:rPr lang="zh-CN" altLang="en-US" sz="5400" b="1" dirty="0">
                <a:solidFill>
                  <a:schemeClr val="bg1"/>
                </a:solidFill>
              </a:rPr>
              <a:t>树并发</a:t>
            </a:r>
            <a:endParaRPr lang="en-US" altLang="zh-CN" sz="5400" b="1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25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 192"/>
          <p:cNvSpPr/>
          <p:nvPr/>
        </p:nvSpPr>
        <p:spPr>
          <a:xfrm>
            <a:off x="0" y="591"/>
            <a:ext cx="36404550" cy="20318819"/>
          </a:xfrm>
          <a:prstGeom prst="rect">
            <a:avLst/>
          </a:prstGeom>
          <a:solidFill>
            <a:srgbClr val="F1F3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3750"/>
          </a:p>
        </p:txBody>
      </p:sp>
      <p:sp>
        <p:nvSpPr>
          <p:cNvPr id="194" name="textbox 194"/>
          <p:cNvSpPr/>
          <p:nvPr/>
        </p:nvSpPr>
        <p:spPr>
          <a:xfrm>
            <a:off x="1447800" y="2785110"/>
            <a:ext cx="16872585" cy="16499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6665" b="1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写入 (Insert/Delete) 操作-写锁 (W-Latch):</a:t>
            </a:r>
            <a:endParaRPr sz="604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671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15" kern="0" spc="104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从根节点开始，获取节点的写锁。</a:t>
            </a:r>
          </a:p>
          <a:p>
            <a:pPr marL="34671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2.  在向下遍历时，获取子节点的写锁。</a:t>
            </a:r>
          </a:p>
          <a:p>
            <a:pPr marL="1590040" indent="-12331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3.  检查子节点是否“安全”:(e.g.,for Insert,     size&lt;max_size-1)</a:t>
            </a:r>
          </a:p>
          <a:p>
            <a:pPr marL="1299210" indent="-94170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4. 如果子节点安全: 释放所有已持有的祖先节点的锁。</a:t>
            </a:r>
          </a:p>
          <a:p>
            <a:pPr marL="1299210" indent="-941705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5. 如果子节点不安全: 继续持有所有祖先节点的锁。</a:t>
            </a: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6665" b="1" kern="0" spc="-6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Transaction 对象的作用：</a:t>
            </a: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transaction-&gt;AddIntoPageSet() 用于记录当前线程持有的所有页面锁，以便统一释放。</a:t>
            </a:r>
          </a:p>
          <a:p>
            <a:pPr marL="26670" ea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（每给一个 page 上锁，就把它丢进 page_set 里，等发现“子节点安全”或操作结束，就从这个集合里把所有锁一次性释放掉。）</a:t>
            </a:r>
          </a:p>
        </p:txBody>
      </p:sp>
      <p:sp>
        <p:nvSpPr>
          <p:cNvPr id="198" name="textbox 198"/>
          <p:cNvSpPr/>
          <p:nvPr/>
        </p:nvSpPr>
        <p:spPr>
          <a:xfrm>
            <a:off x="20027794" y="3932072"/>
            <a:ext cx="13588210" cy="15020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396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23559686" y="17526225"/>
            <a:ext cx="4059793" cy="801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604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32369953" y="17181065"/>
            <a:ext cx="2402277" cy="1267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396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19472185" y="12511281"/>
            <a:ext cx="4865403" cy="8135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604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31324777" y="14469112"/>
            <a:ext cx="2209142" cy="1283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458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19511866" y="4705841"/>
            <a:ext cx="3899730" cy="8135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604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33534168" y="19741842"/>
            <a:ext cx="2664197" cy="41140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291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22660131" y="15154281"/>
            <a:ext cx="951122" cy="84661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5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22435512" y="7318405"/>
            <a:ext cx="865137" cy="77121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458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20636401" y="17455998"/>
            <a:ext cx="607183" cy="84132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479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8402" y="3588132"/>
            <a:ext cx="17991943" cy="1087903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9574728" y="6984525"/>
            <a:ext cx="10582718" cy="6052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3335"/>
              <a:t>size = 1 &lt; max_size-1 = 2 → safe</a:t>
            </a:r>
          </a:p>
        </p:txBody>
      </p:sp>
      <p:sp>
        <p:nvSpPr>
          <p:cNvPr id="2" name="矩形 1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6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7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55" y="362897"/>
            <a:ext cx="5647573" cy="1554597"/>
          </a:xfrm>
          <a:prstGeom prst="rect">
            <a:avLst/>
          </a:prstGeom>
        </p:spPr>
      </p:pic>
      <p:cxnSp>
        <p:nvCxnSpPr>
          <p:cNvPr id="8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9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8084" y="-96582"/>
            <a:ext cx="5807766" cy="2461290"/>
          </a:xfrm>
          <a:prstGeom prst="rect">
            <a:avLst/>
          </a:prstGeom>
        </p:spPr>
      </p:pic>
      <p:sp>
        <p:nvSpPr>
          <p:cNvPr id="10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实验二</a:t>
            </a:r>
            <a:endParaRPr sz="7110" b="1" dirty="0"/>
          </a:p>
        </p:txBody>
      </p:sp>
      <p:sp>
        <p:nvSpPr>
          <p:cNvPr id="11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树插入</a:t>
            </a:r>
            <a:endParaRPr lang="en-US" altLang="zh-CN" sz="5400" b="1" dirty="0"/>
          </a:p>
        </p:txBody>
      </p:sp>
      <p:sp>
        <p:nvSpPr>
          <p:cNvPr id="12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树删除</a:t>
            </a:r>
            <a:endParaRPr lang="en-US" altLang="zh-CN" sz="5400" b="1" dirty="0"/>
          </a:p>
        </p:txBody>
      </p:sp>
      <p:sp>
        <p:nvSpPr>
          <p:cNvPr id="13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</a:rPr>
              <a:t>B</a:t>
            </a:r>
            <a:r>
              <a:rPr lang="en-US" altLang="zh-CN" sz="5400" b="1" baseline="30000" dirty="0">
                <a:solidFill>
                  <a:schemeClr val="bg1"/>
                </a:solidFill>
              </a:rPr>
              <a:t>+</a:t>
            </a:r>
            <a:r>
              <a:rPr lang="zh-CN" altLang="en-US" sz="5400" b="1" dirty="0">
                <a:solidFill>
                  <a:schemeClr val="bg1"/>
                </a:solidFill>
              </a:rPr>
              <a:t>树并发</a:t>
            </a:r>
            <a:endParaRPr lang="en-US" altLang="zh-CN" sz="5400" b="1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26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 218"/>
          <p:cNvSpPr/>
          <p:nvPr/>
        </p:nvSpPr>
        <p:spPr>
          <a:xfrm>
            <a:off x="0" y="591"/>
            <a:ext cx="36404550" cy="20318819"/>
          </a:xfrm>
          <a:prstGeom prst="rect">
            <a:avLst/>
          </a:prstGeom>
          <a:solidFill>
            <a:srgbClr val="EEF2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3750"/>
          </a:p>
        </p:txBody>
      </p:sp>
      <p:sp>
        <p:nvSpPr>
          <p:cNvPr id="224" name="textbox 224"/>
          <p:cNvSpPr/>
          <p:nvPr/>
        </p:nvSpPr>
        <p:spPr>
          <a:xfrm>
            <a:off x="24538602" y="10131878"/>
            <a:ext cx="8585230" cy="7599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458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1862455" y="4825365"/>
            <a:ext cx="17322165" cy="4529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99210" indent="-941705" algn="l" ea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sz="5400" b="1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挑战</a:t>
            </a: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：除了管理锁 (Latch),</a:t>
            </a: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还必须精确管</a:t>
            </a: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理缓冲池中的页面钉 (Pin </a:t>
            </a: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Count)。忘记</a:t>
            </a: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Unpin会导致资源泄漏。</a:t>
            </a:r>
          </a:p>
          <a:p>
            <a:pPr marL="1299210" indent="-941705" algn="l" ea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sz="5400" kern="0" spc="-83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299210" indent="-941705" algn="l" ea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sz="5400" b="1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统一释放策略</a:t>
            </a: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</a:p>
          <a:p>
            <a:pPr marL="1641475" indent="-1321435" ea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1. 写入操作中，所有加锁的页面都被记录在transaction 的Page Set中。</a:t>
            </a:r>
            <a:endParaRPr sz="5400" kern="0" spc="-83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641475" indent="-1321435" ea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2. 操作完成后，调用一个辅助函数         UnlockUnpinPages()。</a:t>
            </a:r>
            <a:endParaRPr sz="5400" kern="0" spc="-83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641475" indent="-1321435" ea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3. 该函数遍历Page Set,对每个页面执行page-&gt;WUnlatch() 和buffer_pool_ manager_-&gt;UnpinPage()。</a:t>
            </a:r>
          </a:p>
          <a:p>
            <a:pPr marL="1641475" indent="-1321435" ea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sz="5400" kern="0" spc="-83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1641475" indent="-1321435" ea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sz="5400" b="1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优势：</a:t>
            </a: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原子性、简化逻辑、鲁棒性。</a:t>
            </a:r>
            <a:endParaRPr sz="5400" kern="0" spc="-83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1641475" indent="-1321435" ea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sz="5400" kern="0" spc="-83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1870676" y="3203983"/>
            <a:ext cx="19493365" cy="137443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92000"/>
              </a:lnSpc>
            </a:pPr>
            <a:r>
              <a:rPr sz="8800" b="1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资源管理：Unlatch与Unpin的协同</a:t>
            </a:r>
            <a:endParaRPr sz="937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11836512" y="4578066"/>
            <a:ext cx="4968586" cy="1984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562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30319653" y="4482850"/>
            <a:ext cx="1263312" cy="1410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41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33534168" y="19755049"/>
            <a:ext cx="2664197" cy="41140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291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23387857" y="17340337"/>
            <a:ext cx="255306" cy="62702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54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7874" y="3593423"/>
            <a:ext cx="14868719" cy="153978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4536" y="5192738"/>
            <a:ext cx="895563" cy="89556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6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7" name="图片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55" y="362897"/>
            <a:ext cx="5647573" cy="1554597"/>
          </a:xfrm>
          <a:prstGeom prst="rect">
            <a:avLst/>
          </a:prstGeom>
        </p:spPr>
      </p:pic>
      <p:cxnSp>
        <p:nvCxnSpPr>
          <p:cNvPr id="8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9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8084" y="-96582"/>
            <a:ext cx="5807766" cy="2461290"/>
          </a:xfrm>
          <a:prstGeom prst="rect">
            <a:avLst/>
          </a:prstGeom>
        </p:spPr>
      </p:pic>
      <p:sp>
        <p:nvSpPr>
          <p:cNvPr id="10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实验二</a:t>
            </a:r>
            <a:endParaRPr sz="7110" b="1" dirty="0"/>
          </a:p>
        </p:txBody>
      </p:sp>
      <p:sp>
        <p:nvSpPr>
          <p:cNvPr id="11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树插入</a:t>
            </a:r>
            <a:endParaRPr lang="en-US" altLang="zh-CN" sz="5400" b="1" dirty="0"/>
          </a:p>
        </p:txBody>
      </p:sp>
      <p:sp>
        <p:nvSpPr>
          <p:cNvPr id="12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树删除</a:t>
            </a:r>
            <a:endParaRPr lang="en-US" altLang="zh-CN" sz="5400" b="1" dirty="0"/>
          </a:p>
        </p:txBody>
      </p:sp>
      <p:sp>
        <p:nvSpPr>
          <p:cNvPr id="13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</a:rPr>
              <a:t>B</a:t>
            </a:r>
            <a:r>
              <a:rPr lang="en-US" altLang="zh-CN" sz="5400" b="1" baseline="30000" dirty="0">
                <a:solidFill>
                  <a:schemeClr val="bg1"/>
                </a:solidFill>
              </a:rPr>
              <a:t>+</a:t>
            </a:r>
            <a:r>
              <a:rPr lang="zh-CN" altLang="en-US" sz="5400" b="1" dirty="0">
                <a:solidFill>
                  <a:schemeClr val="bg1"/>
                </a:solidFill>
              </a:rPr>
              <a:t>树并发</a:t>
            </a:r>
            <a:endParaRPr lang="en-US" altLang="zh-CN" sz="5400" b="1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843679" y="19391518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27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2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91"/>
            <a:ext cx="36404550" cy="20318819"/>
          </a:xfrm>
          <a:prstGeom prst="rect">
            <a:avLst/>
          </a:prstGeom>
        </p:spPr>
      </p:pic>
      <p:sp>
        <p:nvSpPr>
          <p:cNvPr id="240" name="textbox 240"/>
          <p:cNvSpPr/>
          <p:nvPr/>
        </p:nvSpPr>
        <p:spPr>
          <a:xfrm>
            <a:off x="1174750" y="2673350"/>
            <a:ext cx="23790910" cy="7338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6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2545" eaLnBrk="0">
              <a:lnSpc>
                <a:spcPct val="95000"/>
              </a:lnSpc>
              <a:spcBef>
                <a:spcPts val="2825"/>
              </a:spcBef>
            </a:pPr>
            <a:r>
              <a:rPr sz="8800" b="1" kern="0" spc="14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实现概览：核心代码结构与关键函数</a:t>
            </a:r>
            <a:endParaRPr sz="5400" kern="0" spc="-83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560" eaLnBrk="0">
              <a:lnSpc>
                <a:spcPct val="96000"/>
              </a:lnSpc>
              <a:spcBef>
                <a:spcPts val="1625"/>
              </a:spcBef>
            </a:pPr>
            <a:r>
              <a:rPr sz="5400" b="1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主要修改文件:</a:t>
            </a:r>
          </a:p>
          <a:p>
            <a:pPr marL="844550" indent="-685800" eaLnBrk="0">
              <a:lnSpc>
                <a:spcPct val="93000"/>
              </a:lnSpc>
              <a:spcBef>
                <a:spcPts val="2750"/>
              </a:spcBef>
              <a:buFont typeface="Wingdings" panose="05000000000000000000" charset="0"/>
              <a:buChar char="Ø"/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b_plus_tree.cpp: B+树核心逻辑(查找、插入、删除、并发控制)。</a:t>
            </a:r>
          </a:p>
          <a:p>
            <a:pPr marL="844550" indent="-685800" eaLnBrk="0">
              <a:lnSpc>
                <a:spcPct val="85000"/>
              </a:lnSpc>
              <a:spcBef>
                <a:spcPts val="2405"/>
              </a:spcBef>
              <a:buFont typeface="Wingdings" panose="05000000000000000000" charset="0"/>
              <a:buChar char="Ø"/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b_plus_tree_leaf_page.cpp/internal_page.cpp:  页面级操作(</a:t>
            </a:r>
            <a:r>
              <a:rPr sz="5400" kern="0" spc="-83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分裂、合并、重分配</a:t>
            </a: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</a:p>
          <a:p>
            <a:pPr marL="844550" indent="-685800" eaLnBrk="0">
              <a:lnSpc>
                <a:spcPts val="7605"/>
              </a:lnSpc>
              <a:buFont typeface="Wingdings" panose="05000000000000000000" charset="0"/>
              <a:buChar char="Ø"/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index_iterator.cpp:  范围扫描迭代器实现。</a:t>
            </a:r>
          </a:p>
        </p:txBody>
      </p:sp>
      <p:sp>
        <p:nvSpPr>
          <p:cNvPr id="242" name="textbox 242"/>
          <p:cNvSpPr/>
          <p:nvPr/>
        </p:nvSpPr>
        <p:spPr>
          <a:xfrm>
            <a:off x="24256416" y="9977174"/>
            <a:ext cx="12060330" cy="1018189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99000"/>
              </a:lnSpc>
            </a:pPr>
            <a:r>
              <a:rPr sz="5210" b="1" kern="0" spc="-271" dirty="0">
                <a:solidFill>
                  <a:srgbClr val="000000">
                    <a:alpha val="100000"/>
                  </a:srgbClr>
                </a:solidFill>
                <a:latin typeface="Times New Roman Regular" panose="02020503050405090304" charset="0"/>
                <a:ea typeface="宋体" panose="02010600030101010101" pitchFamily="2" charset="-122"/>
                <a:cs typeface="Times New Roman Regular" panose="02020503050405090304" charset="0"/>
              </a:rPr>
              <a:t>CoalesceOrRedistribute()</a:t>
            </a:r>
            <a:r>
              <a:rPr sz="5210" b="1" kern="0" spc="-271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sz="5210" b="1" kern="0" spc="-271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5210" kern="0" spc="-1292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210" b="1" kern="0" spc="-271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删除决策</a:t>
            </a:r>
            <a:endParaRPr sz="521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28600" eaLnBrk="0">
              <a:lnSpc>
                <a:spcPts val="2030"/>
              </a:lnSpc>
              <a:spcBef>
                <a:spcPts val="2060"/>
              </a:spcBef>
            </a:pPr>
            <a:r>
              <a:rPr sz="1665" kern="0" spc="-21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sz="166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3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62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303385" eaLnBrk="0">
              <a:lnSpc>
                <a:spcPct val="83000"/>
              </a:lnSpc>
            </a:pPr>
            <a:endParaRPr sz="312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1574180" y="9964220"/>
            <a:ext cx="9758589" cy="900324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ct val="91000"/>
              </a:lnSpc>
            </a:pPr>
            <a:r>
              <a:rPr sz="5000" b="1" kern="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IsSafe():</a:t>
            </a:r>
            <a:r>
              <a:rPr sz="5000" b="1" kern="0" spc="292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5000" b="1" kern="0" spc="-125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并发安全检查</a:t>
            </a:r>
            <a:endParaRPr sz="5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6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eaLnBrk="0">
              <a:lnSpc>
                <a:spcPts val="4395"/>
              </a:lnSpc>
              <a:spcBef>
                <a:spcPts val="960"/>
              </a:spcBef>
            </a:pPr>
            <a:r>
              <a:rPr sz="3125" kern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</a:t>
            </a:r>
            <a:endParaRPr sz="312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12752175" y="10060787"/>
            <a:ext cx="10807601" cy="900324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21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6855" eaLnBrk="0">
              <a:lnSpc>
                <a:spcPct val="81000"/>
              </a:lnSpc>
            </a:pPr>
            <a:r>
              <a:rPr sz="5000" b="1" kern="0" spc="-21" dirty="0">
                <a:solidFill>
                  <a:srgbClr val="000000">
                    <a:alpha val="100000"/>
                  </a:srgbClr>
                </a:solidFill>
                <a:latin typeface="Times New Roman Bold" panose="02020803070505020304" pitchFamily="18" charset="0"/>
                <a:ea typeface="Arial" panose="020B0604020202020204"/>
                <a:cs typeface="Times New Roman Bold" panose="02020803070505020304" pitchFamily="18" charset="0"/>
              </a:rPr>
              <a:t>FindLeafPage():</a:t>
            </a:r>
            <a:r>
              <a:rPr lang="en-US" sz="5000" b="1" kern="0" spc="-21" dirty="0">
                <a:solidFill>
                  <a:srgbClr val="000000">
                    <a:alpha val="100000"/>
                  </a:srgbClr>
                </a:solidFill>
                <a:latin typeface="Times New Roman Bold" panose="02020803070505020304" pitchFamily="18" charset="0"/>
                <a:ea typeface="Arial" panose="020B0604020202020204"/>
                <a:cs typeface="Times New Roman Bold" panose="02020803070505020304" pitchFamily="18" charset="0"/>
              </a:rPr>
              <a:t> </a:t>
            </a:r>
            <a:r>
              <a:rPr sz="5000" b="1" kern="0" spc="-21" dirty="0">
                <a:solidFill>
                  <a:srgbClr val="000000">
                    <a:alpha val="100000"/>
                  </a:srgbClr>
                </a:solidFill>
                <a:latin typeface="Times New Roman Bold" panose="02020803070505020304" pitchFamily="18" charset="0"/>
                <a:ea typeface="Arial" panose="020B0604020202020204"/>
                <a:cs typeface="Times New Roman Bold" panose="02020803070505020304" pitchFamily="18" charset="0"/>
              </a:rPr>
              <a:t>Latch Crabbing</a:t>
            </a:r>
            <a:endParaRPr sz="5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208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0205" eaLnBrk="0">
              <a:lnSpc>
                <a:spcPct val="98000"/>
              </a:lnSpc>
              <a:spcBef>
                <a:spcPts val="960"/>
              </a:spcBef>
            </a:pPr>
            <a:endParaRPr sz="166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1574251" y="15338570"/>
            <a:ext cx="4816460" cy="70242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75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6470" y="11056885"/>
            <a:ext cx="12061653" cy="849527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19" y="11612478"/>
            <a:ext cx="12061653" cy="745023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8220" y="11156099"/>
            <a:ext cx="12098692" cy="900324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4584660" y="2885440"/>
            <a:ext cx="11732260" cy="657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FindLeafPage + Latch Crabbing：负责安全地走到叶子</a:t>
            </a:r>
          </a:p>
          <a:p>
            <a:pPr marL="685800" indent="-685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IsSafe + Insert/Delete：负责什么时候释放/保留锁</a:t>
            </a:r>
          </a:p>
          <a:p>
            <a:pPr marL="685800" indent="-685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5400" kern="0" spc="-8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UnlockUnpinPages + RAII：负责最后一次性清理所有资源</a:t>
            </a:r>
          </a:p>
        </p:txBody>
      </p:sp>
      <p:sp>
        <p:nvSpPr>
          <p:cNvPr id="2" name="矩形 1"/>
          <p:cNvSpPr/>
          <p:nvPr/>
        </p:nvSpPr>
        <p:spPr>
          <a:xfrm>
            <a:off x="0" y="-96583"/>
            <a:ext cx="36404550" cy="2449023"/>
          </a:xfrm>
          <a:prstGeom prst="rect">
            <a:avLst/>
          </a:prstGeom>
          <a:solidFill>
            <a:srgbClr val="F9F6F1"/>
          </a:solidFill>
          <a:ln>
            <a:noFill/>
          </a:ln>
          <a:effectLst>
            <a:outerShdw blurRad="1117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4"/>
          <p:cNvCxnSpPr/>
          <p:nvPr/>
        </p:nvCxnSpPr>
        <p:spPr>
          <a:xfrm>
            <a:off x="10833297" y="331062"/>
            <a:ext cx="0" cy="175888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</p:cxnSp>
      <p:cxnSp>
        <p:nvCxnSpPr>
          <p:cNvPr id="8" name="直接箭头连接符 38"/>
          <p:cNvCxnSpPr/>
          <p:nvPr/>
        </p:nvCxnSpPr>
        <p:spPr>
          <a:xfrm>
            <a:off x="16288964" y="695890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9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555" y="362897"/>
            <a:ext cx="5647573" cy="1554597"/>
          </a:xfrm>
          <a:prstGeom prst="rect">
            <a:avLst/>
          </a:prstGeom>
        </p:spPr>
      </p:pic>
      <p:cxnSp>
        <p:nvCxnSpPr>
          <p:cNvPr id="10" name="直接箭头连接符 38"/>
          <p:cNvCxnSpPr/>
          <p:nvPr/>
        </p:nvCxnSpPr>
        <p:spPr>
          <a:xfrm>
            <a:off x="21948084" y="745152"/>
            <a:ext cx="0" cy="108808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pic>
        <p:nvPicPr>
          <p:cNvPr id="11" name="图片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48084" y="-96582"/>
            <a:ext cx="5807766" cy="2461290"/>
          </a:xfrm>
          <a:prstGeom prst="rect">
            <a:avLst/>
          </a:prstGeom>
        </p:spPr>
      </p:pic>
      <p:sp>
        <p:nvSpPr>
          <p:cNvPr id="12" name="文本框 33"/>
          <p:cNvSpPr txBox="1"/>
          <p:nvPr/>
        </p:nvSpPr>
        <p:spPr>
          <a:xfrm>
            <a:off x="7186400" y="546893"/>
            <a:ext cx="3134680" cy="1186607"/>
          </a:xfrm>
          <a:prstGeom prst="rect">
            <a:avLst/>
          </a:prstGeom>
          <a:ln w="12700"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实验二</a:t>
            </a:r>
            <a:endParaRPr sz="7110" b="1" dirty="0"/>
          </a:p>
        </p:txBody>
      </p:sp>
      <p:sp>
        <p:nvSpPr>
          <p:cNvPr id="13" name="文本框 35"/>
          <p:cNvSpPr txBox="1"/>
          <p:nvPr/>
        </p:nvSpPr>
        <p:spPr>
          <a:xfrm>
            <a:off x="11826247" y="780527"/>
            <a:ext cx="3878670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树插入</a:t>
            </a:r>
            <a:endParaRPr lang="en-US" altLang="zh-CN" sz="5400" b="1" dirty="0"/>
          </a:p>
        </p:txBody>
      </p:sp>
      <p:sp>
        <p:nvSpPr>
          <p:cNvPr id="14" name="文本框 36"/>
          <p:cNvSpPr txBox="1"/>
          <p:nvPr/>
        </p:nvSpPr>
        <p:spPr>
          <a:xfrm>
            <a:off x="17146563" y="77826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/>
              <a:t>B</a:t>
            </a:r>
            <a:r>
              <a:rPr lang="en-US" altLang="zh-CN" sz="5400" b="1" baseline="30000" dirty="0"/>
              <a:t>+</a:t>
            </a:r>
            <a:r>
              <a:rPr lang="zh-CN" altLang="en-US" sz="5400" b="1" dirty="0"/>
              <a:t>树删除</a:t>
            </a:r>
            <a:endParaRPr lang="en-US" altLang="zh-CN" sz="5400" b="1" dirty="0"/>
          </a:p>
        </p:txBody>
      </p:sp>
      <p:sp>
        <p:nvSpPr>
          <p:cNvPr id="15" name="文本框 36"/>
          <p:cNvSpPr txBox="1"/>
          <p:nvPr/>
        </p:nvSpPr>
        <p:spPr>
          <a:xfrm>
            <a:off x="22850108" y="807385"/>
            <a:ext cx="4217473" cy="92333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</a:rPr>
              <a:t>B</a:t>
            </a:r>
            <a:r>
              <a:rPr lang="en-US" altLang="zh-CN" sz="5400" b="1" baseline="30000" dirty="0">
                <a:solidFill>
                  <a:schemeClr val="bg1"/>
                </a:solidFill>
              </a:rPr>
              <a:t>+</a:t>
            </a:r>
            <a:r>
              <a:rPr lang="zh-CN" altLang="en-US" sz="5400" b="1" dirty="0">
                <a:solidFill>
                  <a:schemeClr val="bg1"/>
                </a:solidFill>
              </a:rPr>
              <a:t>树并发</a:t>
            </a:r>
            <a:endParaRPr lang="en-US" altLang="zh-CN" sz="5400" b="1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955138" y="19552162"/>
            <a:ext cx="196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28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7832" y="-554525"/>
            <a:ext cx="37779158" cy="3773330"/>
          </a:xfrm>
          <a:prstGeom prst="rect">
            <a:avLst/>
          </a:prstGeom>
        </p:spPr>
      </p:pic>
      <p:sp>
        <p:nvSpPr>
          <p:cNvPr id="142" name="文本框 15"/>
          <p:cNvSpPr txBox="1"/>
          <p:nvPr/>
        </p:nvSpPr>
        <p:spPr>
          <a:xfrm>
            <a:off x="10089203" y="7640955"/>
            <a:ext cx="16098520" cy="2519045"/>
          </a:xfrm>
          <a:prstGeom prst="rect">
            <a:avLst/>
          </a:prstGeom>
          <a:noFill/>
          <a:ln w="6350">
            <a:prstDash val="solid"/>
          </a:ln>
          <a:effectLst>
            <a:outerShdw sx="0" sy="0" rotWithShape="0">
              <a:srgbClr val="000000">
                <a:alpha val="100000"/>
              </a:srgbClr>
            </a:outerShdw>
          </a:effectLst>
        </p:spPr>
        <p:txBody>
          <a:bodyPr wrap="none">
            <a:noAutofit/>
          </a:bodyPr>
          <a:lstStyle/>
          <a:p>
            <a:pPr algn="ctr"/>
            <a:r>
              <a:rPr lang="zh-CN" altLang="en-US" sz="173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谢谢大家</a:t>
            </a:r>
            <a:endParaRPr sz="173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7" name="文本框 33"/>
          <p:cNvSpPr txBox="1"/>
          <p:nvPr/>
        </p:nvSpPr>
        <p:spPr>
          <a:xfrm>
            <a:off x="12849190" y="544043"/>
            <a:ext cx="3952033" cy="1186607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实验一</a:t>
            </a:r>
            <a:endParaRPr sz="7110" b="1" dirty="0"/>
          </a:p>
        </p:txBody>
      </p:sp>
      <p:cxnSp>
        <p:nvCxnSpPr>
          <p:cNvPr id="148" name="直接箭头连接符 34"/>
          <p:cNvCxnSpPr/>
          <p:nvPr/>
        </p:nvCxnSpPr>
        <p:spPr>
          <a:xfrm>
            <a:off x="17913940" y="582116"/>
            <a:ext cx="0" cy="1099822"/>
          </a:xfrm>
          <a:prstGeom prst="straightConnector1">
            <a:avLst/>
          </a:prstGeom>
          <a:ln w="15875">
            <a:solidFill>
              <a:schemeClr val="bg1">
                <a:lumMod val="75000"/>
                <a:alpha val="100000"/>
              </a:schemeClr>
            </a:solidFill>
            <a:prstDash val="solid"/>
          </a:ln>
        </p:spPr>
      </p:cxnSp>
      <p:sp>
        <p:nvSpPr>
          <p:cNvPr id="149" name="文本框 35"/>
          <p:cNvSpPr txBox="1"/>
          <p:nvPr/>
        </p:nvSpPr>
        <p:spPr>
          <a:xfrm>
            <a:off x="20078524" y="561327"/>
            <a:ext cx="4204261" cy="1186607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zh-CN" altLang="en-US" sz="7110" b="1" dirty="0"/>
              <a:t>实验二</a:t>
            </a:r>
            <a:endParaRPr sz="7110" dirty="0"/>
          </a:p>
        </p:txBody>
      </p:sp>
      <p:sp>
        <p:nvSpPr>
          <p:cNvPr id="150" name="文本框 36"/>
          <p:cNvSpPr txBox="1"/>
          <p:nvPr/>
        </p:nvSpPr>
        <p:spPr>
          <a:xfrm>
            <a:off x="15774281" y="452354"/>
            <a:ext cx="4279319" cy="913007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ctr"/>
            <a:endParaRPr lang="en-US" sz="5335" b="1" dirty="0"/>
          </a:p>
        </p:txBody>
      </p:sp>
      <p:pic>
        <p:nvPicPr>
          <p:cNvPr id="6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73" y="336085"/>
            <a:ext cx="5947266" cy="1637093"/>
          </a:xfrm>
          <a:prstGeom prst="rect">
            <a:avLst/>
          </a:prstGeom>
        </p:spPr>
      </p:pic>
      <p:sp>
        <p:nvSpPr>
          <p:cNvPr id="9" name="文本框 35"/>
          <p:cNvSpPr txBox="1"/>
          <p:nvPr/>
        </p:nvSpPr>
        <p:spPr>
          <a:xfrm>
            <a:off x="13870875" y="2828001"/>
            <a:ext cx="4267588" cy="913007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endParaRPr sz="5335" dirty="0"/>
          </a:p>
        </p:txBody>
      </p:sp>
      <p:sp>
        <p:nvSpPr>
          <p:cNvPr id="3" name="Text Box 2"/>
          <p:cNvSpPr txBox="1"/>
          <p:nvPr/>
        </p:nvSpPr>
        <p:spPr>
          <a:xfrm>
            <a:off x="15429718" y="16421002"/>
            <a:ext cx="7383780" cy="911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330" dirty="0">
                <a:sym typeface="+mn-ea"/>
              </a:rPr>
              <a:t>2025年12月</a:t>
            </a:r>
            <a:r>
              <a:rPr lang="en-US" altLang="zh-CN" sz="5330" dirty="0">
                <a:sym typeface="+mn-ea"/>
              </a:rPr>
              <a:t>15</a:t>
            </a:r>
            <a:r>
              <a:rPr lang="zh-CN" altLang="en-US" sz="5330" dirty="0">
                <a:sym typeface="+mn-ea"/>
              </a:rPr>
              <a:t>日</a:t>
            </a:r>
            <a:r>
              <a:rPr lang="zh-CN" alt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897517" y="14214280"/>
            <a:ext cx="24032845" cy="16160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6600" dirty="0">
                <a:sym typeface="+mn-ea"/>
              </a:rPr>
              <a:t>小组成员：贺雨恒、冉冉、孙谦昊 、杨治昆、严涵栩 、张译文</a:t>
            </a:r>
            <a:endParaRPr lang="zh-CN" altLang="en-US" sz="6600" dirty="0"/>
          </a:p>
          <a:p>
            <a:pPr algn="ctr"/>
            <a:endParaRPr lang="zh-CN" altLang="en-US" sz="6600" dirty="0"/>
          </a:p>
          <a:p>
            <a:endParaRPr lang="en-US" sz="6600" dirty="0">
              <a:effectLst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en-US" altLang="zh-CN" smtClean="0"/>
              <a:t>29</a:t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3017</Words>
  <Application>Microsoft Office PowerPoint</Application>
  <PresentationFormat>自定义</PresentationFormat>
  <Paragraphs>1381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Times New Roman Regular</vt:lpstr>
      <vt:lpstr>等线</vt:lpstr>
      <vt:lpstr>黑体</vt:lpstr>
      <vt:lpstr>宋体</vt:lpstr>
      <vt:lpstr>Arial</vt:lpstr>
      <vt:lpstr>Times New Roman</vt:lpstr>
      <vt:lpstr>Times New Roman Bold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冉干</dc:creator>
  <cp:lastModifiedBy>小雨 贺</cp:lastModifiedBy>
  <cp:revision>15</cp:revision>
  <dcterms:created xsi:type="dcterms:W3CDTF">2025-12-15T18:07:00Z</dcterms:created>
  <dcterms:modified xsi:type="dcterms:W3CDTF">2025-12-16T03:31:59Z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2025-12-16T10:07:26Z</vt:filetime>
  </property>
  <property fmtid="{D5CDD505-2E9C-101B-9397-08002B2CF9AE}" pid="4" name="UsrData">
    <vt:lpwstr>693fddbca274d1001f4aaedbwl</vt:lpwstr>
  </property>
  <property fmtid="{D5CDD505-2E9C-101B-9397-08002B2CF9AE}" pid="5" name="ICV">
    <vt:lpwstr>C702FD5294EA466287BF4CCA0C69652D_12</vt:lpwstr>
  </property>
  <property fmtid="{D5CDD505-2E9C-101B-9397-08002B2CF9AE}" pid="6" name="KSOProductBuildVer">
    <vt:lpwstr>1033-12.2.0.23155</vt:lpwstr>
  </property>
</Properties>
</file>